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E630AB-5509-4802-ACFC-14FAC1D004F0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99985C-5E54-46BB-BBBC-831CD5392A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10644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99985C-5E54-46BB-BBBC-831CD5392A31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735065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7680960" y="411480"/>
            <a:ext cx="3749039" cy="3749039"/>
          </a:xfrm>
          <a:prstGeom prst="ellipse">
            <a:avLst/>
          </a:prstGeom>
          <a:solidFill>
            <a:srgbClr val="143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321040" y="1024128"/>
            <a:ext cx="2514600" cy="2514600"/>
          </a:xfrm>
          <a:prstGeom prst="ellipse">
            <a:avLst/>
          </a:prstGeom>
          <a:solidFill>
            <a:srgbClr val="1C4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" name="Connector 4"/>
          <p:cNvCxnSpPr/>
          <p:nvPr/>
        </p:nvCxnSpPr>
        <p:spPr>
          <a:xfrm>
            <a:off x="7315200" y="2788920"/>
            <a:ext cx="502920" cy="0"/>
          </a:xfrm>
          <a:prstGeom prst="line">
            <a:avLst/>
          </a:prstGeom>
          <a:ln w="34290">
            <a:solidFill>
              <a:srgbClr val="65D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7818120" y="2450592"/>
            <a:ext cx="256032" cy="338328"/>
          </a:xfrm>
          <a:prstGeom prst="line">
            <a:avLst/>
          </a:prstGeom>
          <a:ln w="34290">
            <a:solidFill>
              <a:srgbClr val="65D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8074152" y="2450592"/>
            <a:ext cx="320040" cy="795528"/>
          </a:xfrm>
          <a:prstGeom prst="line">
            <a:avLst/>
          </a:prstGeom>
          <a:ln w="34290">
            <a:solidFill>
              <a:srgbClr val="65D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8394192" y="1691640"/>
            <a:ext cx="320040" cy="1554480"/>
          </a:xfrm>
          <a:prstGeom prst="line">
            <a:avLst/>
          </a:prstGeom>
          <a:ln w="34290">
            <a:solidFill>
              <a:srgbClr val="65D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714232" y="1691640"/>
            <a:ext cx="338328" cy="1280160"/>
          </a:xfrm>
          <a:prstGeom prst="line">
            <a:avLst/>
          </a:prstGeom>
          <a:ln w="34290">
            <a:solidFill>
              <a:srgbClr val="65D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9052560" y="2788920"/>
            <a:ext cx="274320" cy="182880"/>
          </a:xfrm>
          <a:prstGeom prst="line">
            <a:avLst/>
          </a:prstGeom>
          <a:ln w="34290">
            <a:solidFill>
              <a:srgbClr val="65D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326880" y="2788920"/>
            <a:ext cx="457200" cy="0"/>
          </a:xfrm>
          <a:prstGeom prst="line">
            <a:avLst/>
          </a:prstGeom>
          <a:ln w="34290">
            <a:solidFill>
              <a:srgbClr val="65D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9784080" y="2523744"/>
            <a:ext cx="365760" cy="265176"/>
          </a:xfrm>
          <a:prstGeom prst="line">
            <a:avLst/>
          </a:prstGeom>
          <a:ln w="34290">
            <a:solidFill>
              <a:srgbClr val="65D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149840" y="2523744"/>
            <a:ext cx="301752" cy="402336"/>
          </a:xfrm>
          <a:prstGeom prst="line">
            <a:avLst/>
          </a:prstGeom>
          <a:ln w="34290">
            <a:solidFill>
              <a:srgbClr val="65D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0451592" y="2788920"/>
            <a:ext cx="265176" cy="137160"/>
          </a:xfrm>
          <a:prstGeom prst="line">
            <a:avLst/>
          </a:prstGeom>
          <a:ln w="34290">
            <a:solidFill>
              <a:srgbClr val="65D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716768" y="2788920"/>
            <a:ext cx="530352" cy="0"/>
          </a:xfrm>
          <a:prstGeom prst="line">
            <a:avLst/>
          </a:prstGeom>
          <a:ln w="34290">
            <a:solidFill>
              <a:srgbClr val="65D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7726679" y="2743200"/>
            <a:ext cx="82296" cy="82296"/>
          </a:xfrm>
          <a:prstGeom prst="ellipse">
            <a:avLst/>
          </a:prstGeom>
          <a:solidFill>
            <a:srgbClr val="65D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714232" y="1645920"/>
            <a:ext cx="118872" cy="118872"/>
          </a:xfrm>
          <a:prstGeom prst="ellipse">
            <a:avLst/>
          </a:prstGeom>
          <a:solidFill>
            <a:srgbClr val="65D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9784080" y="2743200"/>
            <a:ext cx="82296" cy="82296"/>
          </a:xfrm>
          <a:prstGeom prst="ellipse">
            <a:avLst/>
          </a:prstGeom>
          <a:solidFill>
            <a:srgbClr val="65D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716768" y="2743200"/>
            <a:ext cx="82296" cy="82296"/>
          </a:xfrm>
          <a:prstGeom prst="ellipse">
            <a:avLst/>
          </a:prstGeom>
          <a:solidFill>
            <a:srgbClr val="65D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58368" y="640080"/>
            <a:ext cx="2331720" cy="310896"/>
          </a:xfrm>
          <a:prstGeom prst="roundRect">
            <a:avLst>
              <a:gd name="adj" fmla="val 16000"/>
            </a:avLst>
          </a:prstGeom>
          <a:solidFill>
            <a:srgbClr val="143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19" y="653796"/>
            <a:ext cx="2185415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1" i="0">
                <a:solidFill>
                  <a:srgbClr val="65D5E5"/>
                </a:solidFill>
                <a:latin typeface="Aptos"/>
              </a:rPr>
              <a:t>MACHINE LEARNING  •  HEALTH ANALYTICS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1298448"/>
            <a:ext cx="6492240" cy="141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7000"/>
              </a:lnSpc>
            </a:pPr>
            <a:r>
              <a:rPr sz="3400" b="1" i="0">
                <a:solidFill>
                  <a:srgbClr val="FFFFFF"/>
                </a:solidFill>
                <a:latin typeface="Aptos"/>
              </a:rPr>
              <a:t>CardioSense AI
Cardiovascular Risk Prediction &amp; Analytics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" y="3035808"/>
            <a:ext cx="557784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C6D4E0"/>
                </a:solidFill>
                <a:latin typeface="Aptos"/>
              </a:rPr>
              <a:t>A data-driven screening prototype built from routine health measurements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94944" y="3931920"/>
            <a:ext cx="5385816" cy="0"/>
          </a:xfrm>
          <a:prstGeom prst="line">
            <a:avLst/>
          </a:prstGeom>
          <a:ln w="12700">
            <a:solidFill>
              <a:srgbClr val="3151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94944" y="4160520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65D5E5"/>
                </a:solidFill>
                <a:latin typeface="Aptos"/>
              </a:rPr>
              <a:t>PROJECT TEAM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" y="4434840"/>
            <a:ext cx="5303520" cy="2242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en-US" sz="1400" b="1" dirty="0">
                <a:solidFill>
                  <a:srgbClr val="FFFFFF"/>
                </a:solidFill>
                <a:latin typeface="Aptos"/>
              </a:rPr>
              <a:t>Om Punekar</a:t>
            </a:r>
            <a:endParaRPr sz="1400" b="1" i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94944" y="5193792"/>
            <a:ext cx="493776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dirty="0">
                <a:solidFill>
                  <a:srgbClr val="AFC0D0"/>
                </a:solidFill>
                <a:latin typeface="Aptos"/>
              </a:rPr>
              <a:t>Roll No. 13  •  Section A7-B1  •  27/10/2026</a:t>
            </a:r>
            <a:r>
              <a:rPr lang="en-US" sz="1000" dirty="0">
                <a:solidFill>
                  <a:srgbClr val="AFC0D0"/>
                </a:solidFill>
                <a:latin typeface="Aptos"/>
              </a:rPr>
              <a:t/>
            </a:r>
            <a:r>
              <a:rPr sz="1000" b="0" i="0" dirty="0">
                <a:solidFill>
                  <a:srgbClr val="AFC0D0"/>
                </a:solidFill>
                <a:latin typeface="Aptos"/>
              </a:rPr>
              <a:t/>
            </a:r>
            <a:r>
              <a:rPr lang="en-US" sz="1000" dirty="0">
                <a:solidFill>
                  <a:srgbClr val="AFC0D0"/>
                </a:solidFill>
                <a:latin typeface="Aptos"/>
              </a:rPr>
              <a:t/>
            </a:r>
            <a:endParaRPr sz="1000" b="0" i="0" dirty="0">
              <a:solidFill>
                <a:srgbClr val="AFC0D0"/>
              </a:solidFill>
              <a:latin typeface="Aptos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7424927" y="4023360"/>
            <a:ext cx="1399032" cy="1078992"/>
          </a:xfrm>
          <a:prstGeom prst="roundRect">
            <a:avLst>
              <a:gd name="adj" fmla="val 16000"/>
            </a:avLst>
          </a:prstGeom>
          <a:solidFill>
            <a:srgbClr val="143653"/>
          </a:solidFill>
          <a:ln w="12700">
            <a:solidFill>
              <a:srgbClr val="1C4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7424927" y="4023360"/>
            <a:ext cx="64008" cy="1078992"/>
          </a:xfrm>
          <a:prstGeom prst="roundRect">
            <a:avLst>
              <a:gd name="adj" fmla="val 16000"/>
            </a:avLst>
          </a:prstGeom>
          <a:solidFill>
            <a:srgbClr val="65D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607807" y="4169664"/>
            <a:ext cx="1106424" cy="393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Aptos"/>
              </a:rPr>
              <a:t>70K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07807" y="4590288"/>
            <a:ext cx="110642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1" i="0">
                <a:solidFill>
                  <a:srgbClr val="C1D0DD"/>
                </a:solidFill>
                <a:latin typeface="Aptos"/>
              </a:rPr>
              <a:t>RAW RECORDS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979408" y="4023360"/>
            <a:ext cx="1399032" cy="1078992"/>
          </a:xfrm>
          <a:prstGeom prst="roundRect">
            <a:avLst>
              <a:gd name="adj" fmla="val 16000"/>
            </a:avLst>
          </a:prstGeom>
          <a:solidFill>
            <a:srgbClr val="143653"/>
          </a:solidFill>
          <a:ln w="12700">
            <a:solidFill>
              <a:srgbClr val="1C4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8979408" y="4023360"/>
            <a:ext cx="64008" cy="1078992"/>
          </a:xfrm>
          <a:prstGeom prst="roundRect">
            <a:avLst>
              <a:gd name="adj" fmla="val 16000"/>
            </a:avLst>
          </a:prstGeom>
          <a:solidFill>
            <a:srgbClr val="00A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162288" y="4169664"/>
            <a:ext cx="1106424" cy="393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Aptos"/>
              </a:rPr>
              <a:t>73.7%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62288" y="4590288"/>
            <a:ext cx="110642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1" i="0">
                <a:solidFill>
                  <a:srgbClr val="C1D0DD"/>
                </a:solidFill>
                <a:latin typeface="Aptos"/>
              </a:rPr>
              <a:t>TEST ACCURACY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533888" y="4023360"/>
            <a:ext cx="1143000" cy="1078992"/>
          </a:xfrm>
          <a:prstGeom prst="roundRect">
            <a:avLst>
              <a:gd name="adj" fmla="val 16000"/>
            </a:avLst>
          </a:prstGeom>
          <a:solidFill>
            <a:srgbClr val="143653"/>
          </a:solidFill>
          <a:ln w="12700">
            <a:solidFill>
              <a:srgbClr val="1C4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10533888" y="4023360"/>
            <a:ext cx="64008" cy="1078992"/>
          </a:xfrm>
          <a:prstGeom prst="roundRect">
            <a:avLst>
              <a:gd name="adj" fmla="val 16000"/>
            </a:avLst>
          </a:prstGeom>
          <a:solidFill>
            <a:srgbClr val="F0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716767" y="4169664"/>
            <a:ext cx="850392" cy="393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Aptos"/>
              </a:rPr>
              <a:t>0.802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716767" y="4590288"/>
            <a:ext cx="85039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1" i="0">
                <a:solidFill>
                  <a:srgbClr val="C1D0DD"/>
                </a:solidFill>
                <a:latin typeface="Aptos"/>
              </a:rPr>
              <a:t>ROC-AUC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61504" y="5376672"/>
            <a:ext cx="42062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AEC3D5"/>
                </a:solidFill>
                <a:latin typeface="Aptos"/>
              </a:rPr>
              <a:t>Model comparison  •  Feature analysis  •  Streamlit app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4944" y="6327648"/>
            <a:ext cx="53035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8197AB"/>
                </a:solidFill>
                <a:latin typeface="Aptos"/>
              </a:rPr>
              <a:t>ACADEMIC 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5029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00A99A"/>
                </a:solidFill>
                <a:latin typeface="Aptos"/>
              </a:rPr>
              <a:t>01  / 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4864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1F33"/>
                </a:solidFill>
                <a:latin typeface="Aptos"/>
              </a:rPr>
              <a:t>Why predict cardiovascular disease risk?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024128"/>
            <a:ext cx="109728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67B90"/>
                </a:solidFill>
                <a:latin typeface="Aptos"/>
              </a:rPr>
              <a:t>The project turns routine health measurements into an estimated risk probability—not a diagnosis.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664208"/>
            <a:ext cx="3291840" cy="23774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2960" y="1901952"/>
            <a:ext cx="457200" cy="73152"/>
          </a:xfrm>
          <a:prstGeom prst="roundRect">
            <a:avLst>
              <a:gd name="adj" fmla="val 16000"/>
            </a:avLst>
          </a:prstGeom>
          <a:solidFill>
            <a:srgbClr val="F0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2084831"/>
            <a:ext cx="2834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F06464"/>
                </a:solidFill>
                <a:latin typeface="Aptos"/>
              </a:rPr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77440"/>
            <a:ext cx="2852928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B1F33"/>
                </a:solidFill>
                <a:latin typeface="Aptos"/>
              </a:rPr>
              <a:t>Health readings are noisy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054096"/>
            <a:ext cx="2852928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67B90"/>
                </a:solidFill>
                <a:latin typeface="Aptos"/>
              </a:rPr>
              <a:t>Blood pressure, age, cholesterol and body measurements can reveal risk patterns, but raw data may contain impossible values.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1664208"/>
            <a:ext cx="3291840" cy="23774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407407" y="1901952"/>
            <a:ext cx="457200" cy="73152"/>
          </a:xfrm>
          <a:prstGeom prst="roundRect">
            <a:avLst>
              <a:gd name="adj" fmla="val 16000"/>
            </a:avLst>
          </a:prstGeom>
          <a:solidFill>
            <a:srgbClr val="00A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07407" y="2084831"/>
            <a:ext cx="2834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A99A"/>
                </a:solidFill>
                <a:latin typeface="Aptos"/>
              </a:rPr>
              <a:t>THE APPROACH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7407" y="2377440"/>
            <a:ext cx="2852928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B1F33"/>
                </a:solidFill>
                <a:latin typeface="Aptos"/>
              </a:rPr>
              <a:t>Compare before choosing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07407" y="3054096"/>
            <a:ext cx="2852928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67B90"/>
                </a:solidFill>
                <a:latin typeface="Aptos"/>
              </a:rPr>
              <a:t>Clean the dataset, train multiple classifiers, select on validation ROC-AUC and evaluate once on an untouched test set.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90688" y="1664208"/>
            <a:ext cx="3291840" cy="23774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991856" y="1901952"/>
            <a:ext cx="457200" cy="73152"/>
          </a:xfrm>
          <a:prstGeom prst="roundRect">
            <a:avLst>
              <a:gd name="adj" fmla="val 16000"/>
            </a:avLst>
          </a:prstGeom>
          <a:solidFill>
            <a:srgbClr val="7C7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991856" y="2084831"/>
            <a:ext cx="2834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7C7FEA"/>
                </a:solidFill>
                <a:latin typeface="Aptos"/>
              </a:rPr>
              <a:t>THE GAP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91856" y="2377440"/>
            <a:ext cx="2852928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B1F33"/>
                </a:solidFill>
                <a:latin typeface="Aptos"/>
              </a:rPr>
              <a:t>Avoid headline-only scores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91856" y="3054096"/>
            <a:ext cx="2852928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67B90"/>
                </a:solidFill>
                <a:latin typeface="Aptos"/>
              </a:rPr>
              <a:t>Studies using small or different datasets report very high accuracy. Results on the same 70,000-row dataset are closer to 73%.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" y="4343400"/>
            <a:ext cx="10460736" cy="1627632"/>
          </a:xfrm>
          <a:prstGeom prst="roundRect">
            <a:avLst>
              <a:gd name="adj" fmla="val 16000"/>
            </a:avLst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96112" y="4590288"/>
            <a:ext cx="187451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65D5E5"/>
                </a:solidFill>
                <a:latin typeface="Aptos"/>
              </a:rPr>
              <a:t>PROJECT OBJECTIVES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4640" y="4553712"/>
            <a:ext cx="3840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65D5E5"/>
                </a:solidFill>
                <a:latin typeface="Aptos"/>
              </a:rPr>
              <a:t>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34640" y="4892040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Aptos"/>
              </a:rPr>
              <a:t>Prepare data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40" y="5230368"/>
            <a:ext cx="1783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C3D1DD"/>
                </a:solidFill>
                <a:latin typeface="Aptos"/>
              </a:rPr>
              <a:t>Remove invalid records; prevent leakage.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0" y="4553712"/>
            <a:ext cx="3840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65D5E5"/>
                </a:solidFill>
                <a:latin typeface="Aptos"/>
              </a:rP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0" y="4892040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Aptos"/>
              </a:rPr>
              <a:t>Benchmark models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0" y="5230368"/>
            <a:ext cx="1783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C3D1DD"/>
                </a:solidFill>
                <a:latin typeface="Aptos"/>
              </a:rPr>
              <a:t>Compare accuracy, precision, recall, F1 and ROC-AUC.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4553712"/>
            <a:ext cx="3840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65D5E5"/>
                </a:solidFill>
                <a:latin typeface="Aptos"/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4892040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Aptos"/>
              </a:rPr>
              <a:t>Explain patterns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5230368"/>
            <a:ext cx="1783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C3D1DD"/>
                </a:solidFill>
                <a:latin typeface="Aptos"/>
              </a:rPr>
              <a:t>Identify the features most important to predictions.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69680" y="4553712"/>
            <a:ext cx="3840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65D5E5"/>
                </a:solidFill>
                <a:latin typeface="Aptos"/>
              </a:rPr>
              <a:t>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69680" y="4892040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Aptos"/>
              </a:rPr>
              <a:t>Build a tool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69680" y="5230368"/>
            <a:ext cx="1783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C3D1DD"/>
                </a:solidFill>
                <a:latin typeface="Aptos"/>
              </a:rPr>
              <a:t>Make a responsive browser interface for model outputs.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6144768"/>
            <a:ext cx="10789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67B90"/>
                </a:solidFill>
                <a:latin typeface="Aptos"/>
              </a:rPr>
              <a:t>Research context: Slime et al. (2024) report ~73% test accuracy on the same Kaggle dataset; Zhou et al. (2024) highlight generalisation and interpretability gaps.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66928" y="6510528"/>
            <a:ext cx="11064240" cy="0"/>
          </a:xfrm>
          <a:prstGeom prst="line">
            <a:avLst/>
          </a:prstGeom>
          <a:ln w="8890">
            <a:solidFill>
              <a:srgbClr val="D8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585216" y="6556248"/>
            <a:ext cx="73152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 i="0">
                <a:solidFill>
                  <a:srgbClr val="8B9BAD"/>
                </a:solidFill>
                <a:latin typeface="Aptos"/>
              </a:rPr>
              <a:t>CARDIOSENSE AI  /  CARDIOVASCULAR RISK PREDICTION &amp; ANALYTICS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09960" y="6528816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8B9BAD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5029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00A99A"/>
                </a:solidFill>
                <a:latin typeface="Aptos"/>
              </a:rPr>
              <a:t>02  / 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4864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1F33"/>
                </a:solidFill>
                <a:latin typeface="Aptos"/>
              </a:rPr>
              <a:t>Dataset profile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024128"/>
            <a:ext cx="109728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67B90"/>
                </a:solidFill>
                <a:latin typeface="Aptos"/>
              </a:rPr>
              <a:t>Public Kaggle Cardiovascular Disease dataset with a binary target (`cardio`).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572768"/>
            <a:ext cx="2212848" cy="10972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21792" y="1572768"/>
            <a:ext cx="64008" cy="1097280"/>
          </a:xfrm>
          <a:prstGeom prst="roundRect">
            <a:avLst>
              <a:gd name="adj" fmla="val 16000"/>
            </a:avLst>
          </a:prstGeom>
          <a:solidFill>
            <a:srgbClr val="00A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1719072"/>
            <a:ext cx="1920240" cy="393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0B1F33"/>
                </a:solidFill>
                <a:latin typeface="Aptos"/>
              </a:rPr>
              <a:t>70,000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139696"/>
            <a:ext cx="1920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1" i="0">
                <a:solidFill>
                  <a:srgbClr val="667B90"/>
                </a:solidFill>
                <a:latin typeface="Aptos"/>
              </a:rPr>
              <a:t>RAW PATIENT RECORDS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17520" y="1572768"/>
            <a:ext cx="2212848" cy="10972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017520" y="1572768"/>
            <a:ext cx="64008" cy="1097280"/>
          </a:xfrm>
          <a:prstGeom prst="roundRect">
            <a:avLst>
              <a:gd name="adj" fmla="val 16000"/>
            </a:avLst>
          </a:prstGeom>
          <a:solidFill>
            <a:srgbClr val="F0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00400" y="1719072"/>
            <a:ext cx="1920240" cy="393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0B1F33"/>
                </a:solidFill>
                <a:latin typeface="Aptos"/>
              </a:rPr>
              <a:t>68,523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2139696"/>
            <a:ext cx="1920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1" i="0">
                <a:solidFill>
                  <a:srgbClr val="667B90"/>
                </a:solidFill>
                <a:latin typeface="Aptos"/>
              </a:rPr>
              <a:t>RECORDS AFTER CLEANING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13248" y="1572768"/>
            <a:ext cx="2212848" cy="10972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413248" y="1572768"/>
            <a:ext cx="64008" cy="1097280"/>
          </a:xfrm>
          <a:prstGeom prst="roundRect">
            <a:avLst>
              <a:gd name="adj" fmla="val 16000"/>
            </a:avLst>
          </a:prstGeom>
          <a:solidFill>
            <a:srgbClr val="7C7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596128" y="1719072"/>
            <a:ext cx="1920240" cy="393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0B1F33"/>
                </a:solidFill>
                <a:latin typeface="Aptos"/>
              </a:rPr>
              <a:t>≈49.5%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96128" y="2139696"/>
            <a:ext cx="1920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1" i="0">
                <a:solidFill>
                  <a:srgbClr val="667B90"/>
                </a:solidFill>
                <a:latin typeface="Aptos"/>
              </a:rPr>
              <a:t>DISEASE POSITIVE RATE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08975" y="1572768"/>
            <a:ext cx="3456432" cy="10972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808975" y="1572768"/>
            <a:ext cx="64008" cy="1097280"/>
          </a:xfrm>
          <a:prstGeom prst="roundRect">
            <a:avLst>
              <a:gd name="adj" fmla="val 16000"/>
            </a:avLst>
          </a:prstGeom>
          <a:solidFill>
            <a:srgbClr val="F3C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991855" y="1719072"/>
            <a:ext cx="3163824" cy="393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0B1F33"/>
                </a:solidFill>
                <a:latin typeface="Aptos"/>
              </a:rPr>
              <a:t>11 + 1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91855" y="2139696"/>
            <a:ext cx="316382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1" i="0">
                <a:solidFill>
                  <a:srgbClr val="667B90"/>
                </a:solidFill>
                <a:latin typeface="Aptos"/>
              </a:rPr>
              <a:t>RAW INPUTS + TARGET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91855" y="2395728"/>
            <a:ext cx="316382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67B90"/>
                </a:solidFill>
                <a:latin typeface="Aptos"/>
              </a:rPr>
              <a:t>BMI is engineered for modeling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" y="3063240"/>
            <a:ext cx="2084831" cy="1874519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21792" y="3063240"/>
            <a:ext cx="2084831" cy="91440"/>
          </a:xfrm>
          <a:prstGeom prst="roundRect">
            <a:avLst>
              <a:gd name="adj" fmla="val 16000"/>
            </a:avLst>
          </a:prstGeom>
          <a:solidFill>
            <a:srgbClr val="00A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77240" y="3310128"/>
            <a:ext cx="177393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00A99A"/>
                </a:solidFill>
                <a:latin typeface="Aptos"/>
              </a:rPr>
              <a:t>DEMOGRAPHICS</a:t>
            </a:r>
          </a:p>
        </p:txBody>
      </p:sp>
      <p:sp>
        <p:nvSpPr>
          <p:cNvPr id="26" name="Oval 25"/>
          <p:cNvSpPr/>
          <p:nvPr/>
        </p:nvSpPr>
        <p:spPr>
          <a:xfrm>
            <a:off x="786384" y="3730752"/>
            <a:ext cx="82296" cy="82296"/>
          </a:xfrm>
          <a:prstGeom prst="ellipse">
            <a:avLst/>
          </a:prstGeom>
          <a:solidFill>
            <a:srgbClr val="00A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69264" y="3675888"/>
            <a:ext cx="1609343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9324D"/>
                </a:solidFill>
                <a:latin typeface="Aptos"/>
              </a:rPr>
              <a:t>Age</a:t>
            </a:r>
          </a:p>
        </p:txBody>
      </p:sp>
      <p:sp>
        <p:nvSpPr>
          <p:cNvPr id="28" name="Oval 27"/>
          <p:cNvSpPr/>
          <p:nvPr/>
        </p:nvSpPr>
        <p:spPr>
          <a:xfrm>
            <a:off x="786384" y="4059936"/>
            <a:ext cx="82296" cy="82296"/>
          </a:xfrm>
          <a:prstGeom prst="ellipse">
            <a:avLst/>
          </a:prstGeom>
          <a:solidFill>
            <a:srgbClr val="00A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69264" y="4005072"/>
            <a:ext cx="1609343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9324D"/>
                </a:solidFill>
                <a:latin typeface="Aptos"/>
              </a:rPr>
              <a:t>Gender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852928" y="3063240"/>
            <a:ext cx="2084831" cy="1874519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2852928" y="3063240"/>
            <a:ext cx="2084831" cy="91440"/>
          </a:xfrm>
          <a:prstGeom prst="roundRect">
            <a:avLst>
              <a:gd name="adj" fmla="val 16000"/>
            </a:avLst>
          </a:prstGeom>
          <a:solidFill>
            <a:srgbClr val="F0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008376" y="3310128"/>
            <a:ext cx="177393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F06464"/>
                </a:solidFill>
                <a:latin typeface="Aptos"/>
              </a:rPr>
              <a:t>BODY MEASURES</a:t>
            </a:r>
          </a:p>
        </p:txBody>
      </p:sp>
      <p:sp>
        <p:nvSpPr>
          <p:cNvPr id="33" name="Oval 32"/>
          <p:cNvSpPr/>
          <p:nvPr/>
        </p:nvSpPr>
        <p:spPr>
          <a:xfrm>
            <a:off x="3017520" y="3730752"/>
            <a:ext cx="82296" cy="82296"/>
          </a:xfrm>
          <a:prstGeom prst="ellipse">
            <a:avLst/>
          </a:prstGeom>
          <a:solidFill>
            <a:srgbClr val="F0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200400" y="3675888"/>
            <a:ext cx="1609343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9324D"/>
                </a:solidFill>
                <a:latin typeface="Aptos"/>
              </a:rPr>
              <a:t>Height</a:t>
            </a:r>
          </a:p>
        </p:txBody>
      </p:sp>
      <p:sp>
        <p:nvSpPr>
          <p:cNvPr id="35" name="Oval 34"/>
          <p:cNvSpPr/>
          <p:nvPr/>
        </p:nvSpPr>
        <p:spPr>
          <a:xfrm>
            <a:off x="3017520" y="4059936"/>
            <a:ext cx="82296" cy="82296"/>
          </a:xfrm>
          <a:prstGeom prst="ellipse">
            <a:avLst/>
          </a:prstGeom>
          <a:solidFill>
            <a:srgbClr val="F0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200400" y="4005072"/>
            <a:ext cx="1609343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9324D"/>
                </a:solidFill>
                <a:latin typeface="Aptos"/>
              </a:rPr>
              <a:t>Weight</a:t>
            </a:r>
          </a:p>
        </p:txBody>
      </p:sp>
      <p:sp>
        <p:nvSpPr>
          <p:cNvPr id="37" name="Oval 36"/>
          <p:cNvSpPr/>
          <p:nvPr/>
        </p:nvSpPr>
        <p:spPr>
          <a:xfrm>
            <a:off x="3017520" y="4389120"/>
            <a:ext cx="82296" cy="82296"/>
          </a:xfrm>
          <a:prstGeom prst="ellipse">
            <a:avLst/>
          </a:prstGeom>
          <a:solidFill>
            <a:srgbClr val="F0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200400" y="4334256"/>
            <a:ext cx="1609343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9324D"/>
                </a:solidFill>
                <a:latin typeface="Aptos"/>
              </a:rPr>
              <a:t>BMI*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84064" y="3063240"/>
            <a:ext cx="2084831" cy="1874519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5084064" y="3063240"/>
            <a:ext cx="2084831" cy="91440"/>
          </a:xfrm>
          <a:prstGeom prst="roundRect">
            <a:avLst>
              <a:gd name="adj" fmla="val 16000"/>
            </a:avLst>
          </a:prstGeom>
          <a:solidFill>
            <a:srgbClr val="7C7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239512" y="3310128"/>
            <a:ext cx="177393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7C7FEA"/>
                </a:solidFill>
                <a:latin typeface="Aptos"/>
              </a:rPr>
              <a:t>VITAL SIGNS</a:t>
            </a:r>
          </a:p>
        </p:txBody>
      </p:sp>
      <p:sp>
        <p:nvSpPr>
          <p:cNvPr id="42" name="Oval 41"/>
          <p:cNvSpPr/>
          <p:nvPr/>
        </p:nvSpPr>
        <p:spPr>
          <a:xfrm>
            <a:off x="5248655" y="3730752"/>
            <a:ext cx="82296" cy="82296"/>
          </a:xfrm>
          <a:prstGeom prst="ellipse">
            <a:avLst/>
          </a:prstGeom>
          <a:solidFill>
            <a:srgbClr val="7C7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431536" y="3675888"/>
            <a:ext cx="1609343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9324D"/>
                </a:solidFill>
                <a:latin typeface="Aptos"/>
              </a:rPr>
              <a:t>Systolic BP</a:t>
            </a:r>
          </a:p>
        </p:txBody>
      </p:sp>
      <p:sp>
        <p:nvSpPr>
          <p:cNvPr id="44" name="Oval 43"/>
          <p:cNvSpPr/>
          <p:nvPr/>
        </p:nvSpPr>
        <p:spPr>
          <a:xfrm>
            <a:off x="5248655" y="4059936"/>
            <a:ext cx="82296" cy="82296"/>
          </a:xfrm>
          <a:prstGeom prst="ellipse">
            <a:avLst/>
          </a:prstGeom>
          <a:solidFill>
            <a:srgbClr val="7C7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431536" y="4005072"/>
            <a:ext cx="1609343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9324D"/>
                </a:solidFill>
                <a:latin typeface="Aptos"/>
              </a:rPr>
              <a:t>Diastolic BP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315200" y="3063240"/>
            <a:ext cx="2084831" cy="1874519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7315200" y="3063240"/>
            <a:ext cx="2084831" cy="91440"/>
          </a:xfrm>
          <a:prstGeom prst="roundRect">
            <a:avLst>
              <a:gd name="adj" fmla="val 16000"/>
            </a:avLst>
          </a:prstGeom>
          <a:solidFill>
            <a:srgbClr val="F3C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470648" y="3310128"/>
            <a:ext cx="177393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F3C86A"/>
                </a:solidFill>
                <a:latin typeface="Aptos"/>
              </a:rPr>
              <a:t>CLINICAL</a:t>
            </a:r>
          </a:p>
        </p:txBody>
      </p:sp>
      <p:sp>
        <p:nvSpPr>
          <p:cNvPr id="49" name="Oval 48"/>
          <p:cNvSpPr/>
          <p:nvPr/>
        </p:nvSpPr>
        <p:spPr>
          <a:xfrm>
            <a:off x="7479792" y="3730752"/>
            <a:ext cx="82296" cy="82296"/>
          </a:xfrm>
          <a:prstGeom prst="ellipse">
            <a:avLst/>
          </a:prstGeom>
          <a:solidFill>
            <a:srgbClr val="F3C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662672" y="3675888"/>
            <a:ext cx="1609343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9324D"/>
                </a:solidFill>
                <a:latin typeface="Aptos"/>
              </a:rPr>
              <a:t>Cholesterol</a:t>
            </a:r>
          </a:p>
        </p:txBody>
      </p:sp>
      <p:sp>
        <p:nvSpPr>
          <p:cNvPr id="51" name="Oval 50"/>
          <p:cNvSpPr/>
          <p:nvPr/>
        </p:nvSpPr>
        <p:spPr>
          <a:xfrm>
            <a:off x="7479792" y="4059936"/>
            <a:ext cx="82296" cy="82296"/>
          </a:xfrm>
          <a:prstGeom prst="ellipse">
            <a:avLst/>
          </a:prstGeom>
          <a:solidFill>
            <a:srgbClr val="F3C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662672" y="4005072"/>
            <a:ext cx="1609343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9324D"/>
                </a:solidFill>
                <a:latin typeface="Aptos"/>
              </a:rPr>
              <a:t>Glucose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546336" y="3063240"/>
            <a:ext cx="2084831" cy="1874519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ounded Rectangle 53"/>
          <p:cNvSpPr/>
          <p:nvPr/>
        </p:nvSpPr>
        <p:spPr>
          <a:xfrm>
            <a:off x="9546336" y="3063240"/>
            <a:ext cx="2084831" cy="91440"/>
          </a:xfrm>
          <a:prstGeom prst="roundRect">
            <a:avLst>
              <a:gd name="adj" fmla="val 16000"/>
            </a:avLst>
          </a:prstGeom>
          <a:solidFill>
            <a:srgbClr val="087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9701784" y="3310128"/>
            <a:ext cx="177393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087E78"/>
                </a:solidFill>
                <a:latin typeface="Aptos"/>
              </a:rPr>
              <a:t>LIFESTYLE</a:t>
            </a:r>
          </a:p>
        </p:txBody>
      </p:sp>
      <p:sp>
        <p:nvSpPr>
          <p:cNvPr id="56" name="Oval 55"/>
          <p:cNvSpPr/>
          <p:nvPr/>
        </p:nvSpPr>
        <p:spPr>
          <a:xfrm>
            <a:off x="9710928" y="3730752"/>
            <a:ext cx="82296" cy="82296"/>
          </a:xfrm>
          <a:prstGeom prst="ellipse">
            <a:avLst/>
          </a:prstGeom>
          <a:solidFill>
            <a:srgbClr val="087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9893808" y="3675888"/>
            <a:ext cx="1609343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9324D"/>
                </a:solidFill>
                <a:latin typeface="Aptos"/>
              </a:rPr>
              <a:t>Smoking</a:t>
            </a:r>
          </a:p>
        </p:txBody>
      </p:sp>
      <p:sp>
        <p:nvSpPr>
          <p:cNvPr id="58" name="Oval 57"/>
          <p:cNvSpPr/>
          <p:nvPr/>
        </p:nvSpPr>
        <p:spPr>
          <a:xfrm>
            <a:off x="9710928" y="4059936"/>
            <a:ext cx="82296" cy="82296"/>
          </a:xfrm>
          <a:prstGeom prst="ellipse">
            <a:avLst/>
          </a:prstGeom>
          <a:solidFill>
            <a:srgbClr val="087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893808" y="4005072"/>
            <a:ext cx="1609343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9324D"/>
                </a:solidFill>
                <a:latin typeface="Aptos"/>
              </a:rPr>
              <a:t>Alcohol</a:t>
            </a:r>
          </a:p>
        </p:txBody>
      </p:sp>
      <p:sp>
        <p:nvSpPr>
          <p:cNvPr id="60" name="Oval 59"/>
          <p:cNvSpPr/>
          <p:nvPr/>
        </p:nvSpPr>
        <p:spPr>
          <a:xfrm>
            <a:off x="9710928" y="4389120"/>
            <a:ext cx="82296" cy="82296"/>
          </a:xfrm>
          <a:prstGeom prst="ellipse">
            <a:avLst/>
          </a:prstGeom>
          <a:solidFill>
            <a:srgbClr val="087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9893808" y="4334256"/>
            <a:ext cx="1609343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9324D"/>
                </a:solidFill>
                <a:latin typeface="Aptos"/>
              </a:rPr>
              <a:t>Activity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21792" y="5230368"/>
            <a:ext cx="11009376" cy="640080"/>
          </a:xfrm>
          <a:prstGeom prst="roundRect">
            <a:avLst>
              <a:gd name="adj" fmla="val 16000"/>
            </a:avLst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68680" y="5394960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65D5E5"/>
                </a:solidFill>
                <a:latin typeface="Aptos"/>
              </a:rPr>
              <a:t>TARGET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865376" y="5367528"/>
            <a:ext cx="2788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ptos"/>
              </a:rPr>
              <a:t>cardio = 1  Disease present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852160" y="5367528"/>
            <a:ext cx="5440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ptos"/>
              </a:rPr>
              <a:t>cardio = 0  No cardiovascular disease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0080" y="6080760"/>
            <a:ext cx="108813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7B90"/>
                </a:solidFill>
                <a:latin typeface="Aptos"/>
              </a:rPr>
              <a:t>*BMI = weight (kg) / height (m)². Age is stored in days in the raw file and converted to years for modeling.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566928" y="6510528"/>
            <a:ext cx="11064240" cy="0"/>
          </a:xfrm>
          <a:prstGeom prst="line">
            <a:avLst/>
          </a:prstGeom>
          <a:ln w="8890">
            <a:solidFill>
              <a:srgbClr val="D8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585216" y="6556248"/>
            <a:ext cx="73152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 i="0">
                <a:solidFill>
                  <a:srgbClr val="8B9BAD"/>
                </a:solidFill>
                <a:latin typeface="Aptos"/>
              </a:rPr>
              <a:t>CARDIOSENSE AI  /  CARDIOVASCULAR RISK PREDICTION &amp; ANALYTICS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1109960" y="6528816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8B9BAD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5029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00A99A"/>
                </a:solidFill>
                <a:latin typeface="Aptos"/>
              </a:rPr>
              <a:t>03  / 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4864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1F33"/>
                </a:solidFill>
                <a:latin typeface="Aptos"/>
              </a:rPr>
              <a:t>Data cleaning: retain plausible records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024128"/>
            <a:ext cx="109728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67B90"/>
                </a:solidFill>
                <a:latin typeface="Aptos"/>
              </a:rPr>
              <a:t>The raw file had no missing values, but it contained impossible readings and duplicate rows.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572768"/>
            <a:ext cx="3749039" cy="4434840"/>
          </a:xfrm>
          <a:prstGeom prst="roundRect">
            <a:avLst>
              <a:gd name="adj" fmla="val 16000"/>
            </a:avLst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3017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65D5E5"/>
                </a:solidFill>
                <a:latin typeface="Aptos"/>
              </a:rPr>
              <a:t>CLEANING FUNNEL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12848"/>
            <a:ext cx="3017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1" i="0">
                <a:solidFill>
                  <a:srgbClr val="FFFFFF"/>
                </a:solidFill>
                <a:latin typeface="Aptos"/>
              </a:rPr>
              <a:t>70,000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715768"/>
            <a:ext cx="274320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C3D1DD"/>
                </a:solidFill>
                <a:latin typeface="Aptos"/>
              </a:rPr>
              <a:t>raw records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41832" y="3127248"/>
            <a:ext cx="3081528" cy="0"/>
          </a:xfrm>
          <a:prstGeom prst="line">
            <a:avLst/>
          </a:prstGeom>
          <a:ln w="12700">
            <a:solidFill>
              <a:srgbClr val="3553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41832" y="3355848"/>
            <a:ext cx="1417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06464"/>
                </a:solidFill>
                <a:latin typeface="Aptos"/>
              </a:rPr>
              <a:t>−1,477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3456432"/>
            <a:ext cx="1691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C3D1DD"/>
                </a:solidFill>
                <a:latin typeface="Aptos"/>
              </a:rPr>
              <a:t>2.1% removed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1832" y="3995928"/>
            <a:ext cx="2907792" cy="146304"/>
          </a:xfrm>
          <a:prstGeom prst="roundRect">
            <a:avLst>
              <a:gd name="adj" fmla="val 16000"/>
            </a:avLst>
          </a:prstGeom>
          <a:solidFill>
            <a:srgbClr val="2543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41832" y="3995928"/>
            <a:ext cx="61063" cy="146304"/>
          </a:xfrm>
          <a:prstGeom prst="roundRect">
            <a:avLst>
              <a:gd name="adj" fmla="val 16000"/>
            </a:avLst>
          </a:prstGeom>
          <a:solidFill>
            <a:srgbClr val="F0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41832" y="4443984"/>
            <a:ext cx="301752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00A99A"/>
                </a:solidFill>
                <a:latin typeface="Aptos"/>
              </a:rPr>
              <a:t>68,523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919472"/>
            <a:ext cx="29260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C3D1DD"/>
                </a:solidFill>
                <a:latin typeface="Aptos"/>
              </a:rPr>
              <a:t>clean records retained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2688" y="5394960"/>
            <a:ext cx="2377440" cy="274320"/>
          </a:xfrm>
          <a:prstGeom prst="roundRect">
            <a:avLst>
              <a:gd name="adj" fmla="val 16000"/>
            </a:avLst>
          </a:prstGeom>
          <a:solidFill>
            <a:srgbClr val="1C4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5408676"/>
            <a:ext cx="2231136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65D5E5"/>
                </a:solidFill>
                <a:latin typeface="Aptos"/>
              </a:rPr>
              <a:t>STRATIFIED SPLIT · RANDOM STATE 42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1673352"/>
            <a:ext cx="6309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0A99A"/>
                </a:solidFill>
                <a:latin typeface="Aptos"/>
              </a:rPr>
              <a:t>WHAT WAS FIXED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36592" y="2084831"/>
            <a:ext cx="6144768" cy="8686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956048" y="2258568"/>
            <a:ext cx="1170432" cy="338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00A99A"/>
                </a:solidFill>
                <a:latin typeface="Aptos"/>
              </a:rPr>
              <a:t>24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44768" y="2203703"/>
            <a:ext cx="4443984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B1F33"/>
                </a:solidFill>
                <a:latin typeface="Aptos"/>
              </a:rPr>
              <a:t>Duplicate rows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44768" y="2496312"/>
            <a:ext cx="4443984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 i="0">
                <a:solidFill>
                  <a:srgbClr val="667B90"/>
                </a:solidFill>
                <a:latin typeface="Aptos"/>
              </a:rPr>
              <a:t>Identical records removed after ignoring the ID field.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36592" y="3182111"/>
            <a:ext cx="6144768" cy="8686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956048" y="3355847"/>
            <a:ext cx="1170432" cy="338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06464"/>
                </a:solidFill>
                <a:latin typeface="Aptos"/>
              </a:rPr>
              <a:t>1,329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44768" y="3300983"/>
            <a:ext cx="4443984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B1F33"/>
                </a:solidFill>
                <a:latin typeface="Aptos"/>
              </a:rPr>
              <a:t>Blood-pressure errors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44768" y="3593591"/>
            <a:ext cx="4443984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 i="0">
                <a:solidFill>
                  <a:srgbClr val="667B90"/>
                </a:solidFill>
                <a:latin typeface="Aptos"/>
              </a:rPr>
              <a:t>Kept ap_hi 70–250, ap_lo 40–200 and required ap_hi &gt; ap_lo.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36592" y="4279392"/>
            <a:ext cx="6144768" cy="8686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956048" y="4453128"/>
            <a:ext cx="1170432" cy="338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00A99A"/>
                </a:solidFill>
                <a:latin typeface="Aptos"/>
              </a:rPr>
              <a:t>124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44768" y="4398264"/>
            <a:ext cx="4443984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B1F33"/>
                </a:solidFill>
                <a:latin typeface="Aptos"/>
              </a:rPr>
              <a:t>Body-measure errors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44768" y="4690872"/>
            <a:ext cx="4443984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 i="0">
                <a:solidFill>
                  <a:srgbClr val="667B90"/>
                </a:solidFill>
                <a:latin typeface="Aptos"/>
              </a:rPr>
              <a:t>Applied broad height, weight and BMI plausibility ranges.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36592" y="5532120"/>
            <a:ext cx="6144768" cy="466344"/>
          </a:xfrm>
          <a:prstGeom prst="roundRect">
            <a:avLst>
              <a:gd name="adj" fmla="val 16000"/>
            </a:avLst>
          </a:prstGeom>
          <a:solidFill>
            <a:srgbClr val="E2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937760" y="5650992"/>
            <a:ext cx="574243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87E78"/>
                </a:solidFill>
                <a:latin typeface="Aptos"/>
              </a:rPr>
              <a:t>Feature engineering: age → years  •  derive BMI  •  drop ID and raw age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54880" y="6108192"/>
            <a:ext cx="61264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90" b="0" i="0">
                <a:solidFill>
                  <a:srgbClr val="667B90"/>
                </a:solidFill>
                <a:latin typeface="Aptos"/>
              </a:rPr>
              <a:t>Wide rules preserve severe readings (e.g., 200/120 mmHg) rather than removing them as outliers.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66928" y="6510528"/>
            <a:ext cx="11064240" cy="0"/>
          </a:xfrm>
          <a:prstGeom prst="line">
            <a:avLst/>
          </a:prstGeom>
          <a:ln w="8890">
            <a:solidFill>
              <a:srgbClr val="D8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85216" y="6556248"/>
            <a:ext cx="73152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 i="0">
                <a:solidFill>
                  <a:srgbClr val="8B9BAD"/>
                </a:solidFill>
                <a:latin typeface="Aptos"/>
              </a:rPr>
              <a:t>CARDIOSENSE AI  /  CARDIOVASCULAR RISK PREDICTION &amp; ANALYTICS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09960" y="6528816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8B9BAD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5029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00A99A"/>
                </a:solidFill>
                <a:latin typeface="Aptos"/>
              </a:rPr>
              <a:t>04  / 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4864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1F33"/>
                </a:solidFill>
                <a:latin typeface="Aptos"/>
              </a:rPr>
              <a:t>A leakage-aware training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024128"/>
            <a:ext cx="109728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67B90"/>
                </a:solidFill>
                <a:latin typeface="Aptos"/>
              </a:rPr>
              <a:t>The test set is held back until the final evaluation; validation data selects the winning model.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874519"/>
            <a:ext cx="1481328" cy="138988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13232" y="2048256"/>
            <a:ext cx="402336" cy="256032"/>
          </a:xfrm>
          <a:prstGeom prst="roundRect">
            <a:avLst>
              <a:gd name="adj" fmla="val 16000"/>
            </a:avLst>
          </a:prstGeom>
          <a:solidFill>
            <a:srgbClr val="143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86384" y="2061972"/>
            <a:ext cx="256032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69" b="1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450592"/>
            <a:ext cx="11887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F33"/>
                </a:solidFill>
                <a:latin typeface="Aptos"/>
              </a:rPr>
              <a:t>RAW CSV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898648"/>
            <a:ext cx="12070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0" i="0">
                <a:solidFill>
                  <a:srgbClr val="667B90"/>
                </a:solidFill>
                <a:latin typeface="Aptos"/>
              </a:rPr>
              <a:t>70,000 rows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103120" y="2560320"/>
            <a:ext cx="292608" cy="0"/>
          </a:xfrm>
          <a:prstGeom prst="line">
            <a:avLst/>
          </a:prstGeom>
          <a:ln w="21590">
            <a:solidFill>
              <a:srgbClr val="00A9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487168" y="1874519"/>
            <a:ext cx="1481328" cy="138988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2633472" y="2048256"/>
            <a:ext cx="402336" cy="256032"/>
          </a:xfrm>
          <a:prstGeom prst="roundRect">
            <a:avLst>
              <a:gd name="adj" fmla="val 16000"/>
            </a:avLst>
          </a:prstGeom>
          <a:solidFill>
            <a:srgbClr val="087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706624" y="2061972"/>
            <a:ext cx="256032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69" b="1" i="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33472" y="2450592"/>
            <a:ext cx="11887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F33"/>
                </a:solidFill>
                <a:latin typeface="Aptos"/>
              </a:rPr>
              <a:t>CLEAN + DERIVE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33472" y="2898648"/>
            <a:ext cx="12070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0" i="0">
                <a:solidFill>
                  <a:srgbClr val="667B90"/>
                </a:solidFill>
                <a:latin typeface="Aptos"/>
              </a:rPr>
              <a:t>68,523 rows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023360" y="2560320"/>
            <a:ext cx="292608" cy="0"/>
          </a:xfrm>
          <a:prstGeom prst="line">
            <a:avLst/>
          </a:prstGeom>
          <a:ln w="21590">
            <a:solidFill>
              <a:srgbClr val="00A9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407408" y="1874519"/>
            <a:ext cx="1481328" cy="138988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553712" y="2048256"/>
            <a:ext cx="402336" cy="256032"/>
          </a:xfrm>
          <a:prstGeom prst="roundRect">
            <a:avLst>
              <a:gd name="adj" fmla="val 16000"/>
            </a:avLst>
          </a:prstGeom>
          <a:solidFill>
            <a:srgbClr val="7C7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626864" y="2061972"/>
            <a:ext cx="256032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69" b="1" i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53712" y="2450592"/>
            <a:ext cx="11887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F33"/>
                </a:solidFill>
                <a:latin typeface="Aptos"/>
              </a:rPr>
              <a:t>SPLIT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53712" y="2898648"/>
            <a:ext cx="12070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0" i="0">
                <a:solidFill>
                  <a:srgbClr val="667B90"/>
                </a:solidFill>
                <a:latin typeface="Aptos"/>
              </a:rPr>
              <a:t>70 / 15 / 15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943600" y="2560320"/>
            <a:ext cx="292608" cy="0"/>
          </a:xfrm>
          <a:prstGeom prst="line">
            <a:avLst/>
          </a:prstGeom>
          <a:ln w="21590">
            <a:solidFill>
              <a:srgbClr val="00A9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327648" y="1874519"/>
            <a:ext cx="1481328" cy="138988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473952" y="2048256"/>
            <a:ext cx="402336" cy="256032"/>
          </a:xfrm>
          <a:prstGeom prst="roundRect">
            <a:avLst>
              <a:gd name="adj" fmla="val 16000"/>
            </a:avLst>
          </a:prstGeom>
          <a:solidFill>
            <a:srgbClr val="1C4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47104" y="2061972"/>
            <a:ext cx="256032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69" b="1" i="0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3952" y="2450592"/>
            <a:ext cx="11887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F33"/>
                </a:solidFill>
                <a:latin typeface="Aptos"/>
              </a:rPr>
              <a:t>TRAIN MODELS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73952" y="2898648"/>
            <a:ext cx="12070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0" i="0">
                <a:solidFill>
                  <a:srgbClr val="667B90"/>
                </a:solidFill>
                <a:latin typeface="Aptos"/>
              </a:rPr>
              <a:t>7 models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863840" y="2560320"/>
            <a:ext cx="292608" cy="0"/>
          </a:xfrm>
          <a:prstGeom prst="line">
            <a:avLst/>
          </a:prstGeom>
          <a:ln w="21590">
            <a:solidFill>
              <a:srgbClr val="00A9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247888" y="1874519"/>
            <a:ext cx="1481328" cy="138988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8394192" y="2048256"/>
            <a:ext cx="402336" cy="256032"/>
          </a:xfrm>
          <a:prstGeom prst="roundRect">
            <a:avLst>
              <a:gd name="adj" fmla="val 16000"/>
            </a:avLst>
          </a:prstGeom>
          <a:solidFill>
            <a:srgbClr val="F0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467344" y="2061972"/>
            <a:ext cx="256032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69" b="1" i="0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94192" y="2450592"/>
            <a:ext cx="11887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F33"/>
                </a:solidFill>
                <a:latin typeface="Aptos"/>
              </a:rPr>
              <a:t>VALIDATE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94192" y="2898648"/>
            <a:ext cx="12070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0" i="0">
                <a:solidFill>
                  <a:srgbClr val="667B90"/>
                </a:solidFill>
                <a:latin typeface="Aptos"/>
              </a:rPr>
              <a:t>Pick by ROC-AUC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784080" y="2560320"/>
            <a:ext cx="292608" cy="0"/>
          </a:xfrm>
          <a:prstGeom prst="line">
            <a:avLst/>
          </a:prstGeom>
          <a:ln w="21590">
            <a:solidFill>
              <a:srgbClr val="00A9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10168128" y="1874519"/>
            <a:ext cx="1481328" cy="138988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10314432" y="2048256"/>
            <a:ext cx="402336" cy="256032"/>
          </a:xfrm>
          <a:prstGeom prst="roundRect">
            <a:avLst>
              <a:gd name="adj" fmla="val 16000"/>
            </a:avLst>
          </a:prstGeom>
          <a:solidFill>
            <a:srgbClr val="00A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387584" y="2061972"/>
            <a:ext cx="256032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69" b="1" i="0">
                <a:solidFill>
                  <a:srgbClr val="FFFFFF"/>
                </a:solidFill>
                <a:latin typeface="Aptos"/>
              </a:rPr>
              <a:t>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14432" y="2450592"/>
            <a:ext cx="11887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F33"/>
                </a:solidFill>
                <a:latin typeface="Aptos"/>
              </a:rPr>
              <a:t>TEST ONCE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14432" y="2898648"/>
            <a:ext cx="12070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0" i="0">
                <a:solidFill>
                  <a:srgbClr val="667B90"/>
                </a:solidFill>
                <a:latin typeface="Aptos"/>
              </a:rPr>
              <a:t>Final metrics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1792" y="3840480"/>
            <a:ext cx="5212080" cy="115214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77824" y="4050791"/>
            <a:ext cx="16459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00A99A"/>
                </a:solidFill>
                <a:latin typeface="Aptos"/>
              </a:rPr>
              <a:t>STRATIFIED DATA SPLIT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7824" y="4389120"/>
            <a:ext cx="14081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1" i="0">
                <a:solidFill>
                  <a:srgbClr val="667B90"/>
                </a:solidFill>
                <a:latin typeface="Aptos"/>
              </a:rPr>
              <a:t>TRAIN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7824" y="4636008"/>
            <a:ext cx="146304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B1F33"/>
                </a:solidFill>
                <a:latin typeface="Aptos"/>
              </a:rPr>
              <a:t>47,966 · 70%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450591" y="4389120"/>
            <a:ext cx="14081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1" i="0">
                <a:solidFill>
                  <a:srgbClr val="667B90"/>
                </a:solidFill>
                <a:latin typeface="Aptos"/>
              </a:rPr>
              <a:t>VALIDATION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450591" y="4636008"/>
            <a:ext cx="146304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B1F33"/>
                </a:solidFill>
                <a:latin typeface="Aptos"/>
              </a:rPr>
              <a:t>10,278 · 15%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023360" y="4389120"/>
            <a:ext cx="14081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1" i="0">
                <a:solidFill>
                  <a:srgbClr val="667B90"/>
                </a:solidFill>
                <a:latin typeface="Aptos"/>
              </a:rPr>
              <a:t>TEST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023360" y="4636008"/>
            <a:ext cx="146304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B1F33"/>
                </a:solidFill>
                <a:latin typeface="Aptos"/>
              </a:rPr>
              <a:t>10,279 · 15%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108192" y="3840480"/>
            <a:ext cx="5449824" cy="115214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382512" y="4050791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00A99A"/>
                </a:solidFill>
                <a:latin typeface="Aptos"/>
              </a:rPr>
              <a:t>EVALUATION METRICS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82512" y="4398264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1" i="0">
                <a:solidFill>
                  <a:srgbClr val="0B1F33"/>
                </a:solidFill>
                <a:latin typeface="Aptos"/>
              </a:rPr>
              <a:t>Accuracy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82512" y="4645152"/>
            <a:ext cx="9144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40" b="0" i="0">
                <a:solidFill>
                  <a:srgbClr val="667B90"/>
                </a:solidFill>
                <a:latin typeface="Aptos"/>
              </a:rPr>
              <a:t>Overall correctness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88352" y="4398264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1" i="0">
                <a:solidFill>
                  <a:srgbClr val="0B1F33"/>
                </a:solidFill>
                <a:latin typeface="Aptos"/>
              </a:rPr>
              <a:t>Precision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88352" y="4645152"/>
            <a:ext cx="9144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40" b="0" i="0">
                <a:solidFill>
                  <a:srgbClr val="667B90"/>
                </a:solidFill>
                <a:latin typeface="Aptos"/>
              </a:rPr>
              <a:t>Reliability of positive flags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94192" y="4398264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1" i="0">
                <a:solidFill>
                  <a:srgbClr val="0B1F33"/>
                </a:solidFill>
                <a:latin typeface="Aptos"/>
              </a:rPr>
              <a:t>Recall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94192" y="4645152"/>
            <a:ext cx="9144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40" b="0" i="0">
                <a:solidFill>
                  <a:srgbClr val="667B90"/>
                </a:solidFill>
                <a:latin typeface="Aptos"/>
              </a:rPr>
              <a:t>Diseased patients detected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400032" y="4398264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1" i="0">
                <a:solidFill>
                  <a:srgbClr val="0B1F33"/>
                </a:solidFill>
                <a:latin typeface="Aptos"/>
              </a:rPr>
              <a:t>F1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400032" y="4645152"/>
            <a:ext cx="9144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40" b="0" i="0">
                <a:solidFill>
                  <a:srgbClr val="667B90"/>
                </a:solidFill>
                <a:latin typeface="Aptos"/>
              </a:rPr>
              <a:t>Precision–recall balance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405872" y="4398264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1" i="0">
                <a:solidFill>
                  <a:srgbClr val="0B1F33"/>
                </a:solidFill>
                <a:latin typeface="Aptos"/>
              </a:rPr>
              <a:t>ROC-AUC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405872" y="4645152"/>
            <a:ext cx="9144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40" b="0" i="0">
                <a:solidFill>
                  <a:srgbClr val="667B90"/>
                </a:solidFill>
                <a:latin typeface="Aptos"/>
              </a:rPr>
              <a:t>Ranking across cutoffs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21792" y="5330952"/>
            <a:ext cx="10936224" cy="566928"/>
          </a:xfrm>
          <a:prstGeom prst="roundRect">
            <a:avLst>
              <a:gd name="adj" fmla="val 16000"/>
            </a:avLst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68680" y="5504688"/>
            <a:ext cx="10378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1" i="0">
                <a:solidFill>
                  <a:srgbClr val="FFFFFF"/>
                </a:solidFill>
                <a:latin typeface="Aptos"/>
              </a:rPr>
              <a:t>Reproducibility: random_state = 42  •  scaling fitted on training data only  •  model selected on validation ROC-AUC (0.8002)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0080" y="6062472"/>
            <a:ext cx="10789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 i="0">
                <a:solidFill>
                  <a:srgbClr val="667B90"/>
                </a:solidFill>
                <a:latin typeface="Aptos"/>
              </a:rPr>
              <a:t>Models cover linear, distance-based, margin-based (SVM), tree-based (entropy) and boosted approaches.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566928" y="6510528"/>
            <a:ext cx="11064240" cy="0"/>
          </a:xfrm>
          <a:prstGeom prst="line">
            <a:avLst/>
          </a:prstGeom>
          <a:ln w="8890">
            <a:solidFill>
              <a:srgbClr val="D8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585216" y="6556248"/>
            <a:ext cx="73152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 i="0">
                <a:solidFill>
                  <a:srgbClr val="8B9BAD"/>
                </a:solidFill>
                <a:latin typeface="Aptos"/>
              </a:rPr>
              <a:t>CARDIOSENSE AI  /  CARDIOVASCULAR RISK PREDICTION &amp; ANALYTICS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109960" y="6528816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8B9BAD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5029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00A99A"/>
                </a:solidFill>
                <a:latin typeface="Aptos"/>
              </a:rPr>
              <a:t>05  /  BENCHMARK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4864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1F33"/>
                </a:solidFill>
                <a:latin typeface="Aptos"/>
              </a:rPr>
              <a:t>Model comparison: scores are tightly clustered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024128"/>
            <a:ext cx="109728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67B90"/>
                </a:solidFill>
                <a:latin typeface="Aptos"/>
              </a:rPr>
              <a:t>Seven models were trained on the same split; the strongest three are within 0.001 ROC-AUC.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" y="1527048"/>
            <a:ext cx="6903720" cy="446227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818120" y="1527048"/>
            <a:ext cx="3749039" cy="4462272"/>
          </a:xfrm>
          <a:prstGeom prst="roundRect">
            <a:avLst>
              <a:gd name="adj" fmla="val 16000"/>
            </a:avLst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10727" y="1847088"/>
            <a:ext cx="3017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65D5E5"/>
                </a:solidFill>
                <a:latin typeface="Aptos"/>
              </a:rPr>
              <a:t>HOW TO READ THIS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10727" y="2212848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Aptos"/>
              </a:rPr>
              <a:t>73–74%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29016" y="2706624"/>
            <a:ext cx="2999232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C6D4E0"/>
                </a:solidFill>
                <a:latin typeface="Aptos"/>
              </a:rPr>
              <a:t>Accuracy range across the strongest models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110727" y="3227832"/>
            <a:ext cx="3090673" cy="0"/>
          </a:xfrm>
          <a:prstGeom prst="line">
            <a:avLst/>
          </a:prstGeom>
          <a:ln w="12700">
            <a:solidFill>
              <a:srgbClr val="3553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110727" y="3447288"/>
            <a:ext cx="301752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Aptos"/>
              </a:rPr>
              <a:t>Selected: Gradient Boosting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10727" y="3767328"/>
            <a:ext cx="3035808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C6D4E0"/>
                </a:solidFill>
                <a:latin typeface="Aptos"/>
              </a:rPr>
              <a:t>Validation ROC-AUC = 0.8002 — the winner was selected before checking test results.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10727" y="4553712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65D5E5"/>
                </a:solidFill>
                <a:latin typeface="Aptos"/>
              </a:rPr>
              <a:t>Important distinction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10727" y="4837176"/>
            <a:ext cx="3017520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 i="0">
                <a:solidFill>
                  <a:srgbClr val="C6D4E0"/>
                </a:solidFill>
                <a:latin typeface="Aptos"/>
              </a:rPr>
              <a:t>Random Forest has the highest test accuracy (73.74%) and HistGradientBoosting the highest test ROC-AUC (0.8026), but test scores are for evaluation—not model selection.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144768"/>
            <a:ext cx="107899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 i="0">
                <a:solidFill>
                  <a:srgbClr val="667B90"/>
                </a:solidFill>
                <a:latin typeface="Aptos"/>
              </a:rPr>
              <a:t>Source: project outputs/model_comparison.csv (7 models, same split).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66928" y="6510528"/>
            <a:ext cx="11064240" cy="0"/>
          </a:xfrm>
          <a:prstGeom prst="line">
            <a:avLst/>
          </a:prstGeom>
          <a:ln w="8890">
            <a:solidFill>
              <a:srgbClr val="D8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85216" y="6556248"/>
            <a:ext cx="73152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 i="0">
                <a:solidFill>
                  <a:srgbClr val="8B9BAD"/>
                </a:solidFill>
                <a:latin typeface="Aptos"/>
              </a:rPr>
              <a:t>CARDIOSENSE AI  /  CARDIOVASCULAR RISK PREDICTION &amp; ANALYTICS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09960" y="6528816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8B9BAD"/>
                </a:solidFill>
                <a:latin typeface="Aptos"/>
              </a:rPr>
              <a:t>06</a:t>
            </a:r>
          </a:p>
        </p:txBody>
      </p:sp>
      <p:pic>
        <p:nvPicPr>
          <p:cNvPr id="25" name="Picture 24" descr="model_comparis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3" y="2228226"/>
            <a:ext cx="6510526" cy="295933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5029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00A99A"/>
                </a:solidFill>
                <a:latin typeface="Aptos"/>
              </a:rPr>
              <a:t>06  /  TEST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4864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1F33"/>
                </a:solidFill>
                <a:latin typeface="Aptos"/>
              </a:rPr>
              <a:t>Gradient Boosting: final held-out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024128"/>
            <a:ext cx="109728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67B90"/>
                </a:solidFill>
                <a:latin typeface="Aptos"/>
              </a:rPr>
              <a:t>Test set: 10,279 records  •  Model picked using validation ROC-AUC = 0.8002.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508760"/>
            <a:ext cx="2286000" cy="102412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21792" y="1508760"/>
            <a:ext cx="64008" cy="1024128"/>
          </a:xfrm>
          <a:prstGeom prst="roundRect">
            <a:avLst>
              <a:gd name="adj" fmla="val 16000"/>
            </a:avLst>
          </a:prstGeom>
          <a:solidFill>
            <a:srgbClr val="00A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1655063"/>
            <a:ext cx="1993392" cy="393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0B1F33"/>
                </a:solidFill>
                <a:latin typeface="Aptos"/>
              </a:rPr>
              <a:t>73.66%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075688"/>
            <a:ext cx="199339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1" i="0">
                <a:solidFill>
                  <a:srgbClr val="667B90"/>
                </a:solidFill>
                <a:latin typeface="Aptos"/>
              </a:rPr>
              <a:t>ACCURACY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258568"/>
            <a:ext cx="199339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67B90"/>
                </a:solidFill>
                <a:latin typeface="Aptos"/>
              </a:rPr>
              <a:t>Correct predictions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10712" y="1508760"/>
            <a:ext cx="2286000" cy="102412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410712" y="1508760"/>
            <a:ext cx="64008" cy="1024128"/>
          </a:xfrm>
          <a:prstGeom prst="roundRect">
            <a:avLst>
              <a:gd name="adj" fmla="val 16000"/>
            </a:avLst>
          </a:prstGeom>
          <a:solidFill>
            <a:srgbClr val="7C7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93592" y="1655063"/>
            <a:ext cx="1993392" cy="393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0B1F33"/>
                </a:solidFill>
                <a:latin typeface="Aptos"/>
              </a:rPr>
              <a:t>75.59%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3592" y="2075688"/>
            <a:ext cx="199339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1" i="0">
                <a:solidFill>
                  <a:srgbClr val="667B90"/>
                </a:solidFill>
                <a:latin typeface="Aptos"/>
              </a:rPr>
              <a:t>PRECISION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93592" y="2258568"/>
            <a:ext cx="199339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67B90"/>
                </a:solidFill>
                <a:latin typeface="Aptos"/>
              </a:rPr>
              <a:t>Positive flags that were correct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9632" y="1508760"/>
            <a:ext cx="2286000" cy="102412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199632" y="1508760"/>
            <a:ext cx="64008" cy="1024128"/>
          </a:xfrm>
          <a:prstGeom prst="roundRect">
            <a:avLst>
              <a:gd name="adj" fmla="val 16000"/>
            </a:avLst>
          </a:prstGeom>
          <a:solidFill>
            <a:srgbClr val="F0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82512" y="1655063"/>
            <a:ext cx="1993392" cy="393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0B1F33"/>
                </a:solidFill>
                <a:latin typeface="Aptos"/>
              </a:rPr>
              <a:t>69.09%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2075688"/>
            <a:ext cx="199339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1" i="0">
                <a:solidFill>
                  <a:srgbClr val="667B90"/>
                </a:solidFill>
                <a:latin typeface="Aptos"/>
              </a:rPr>
              <a:t>RECALL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2258568"/>
            <a:ext cx="199339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67B90"/>
                </a:solidFill>
                <a:latin typeface="Aptos"/>
              </a:rPr>
              <a:t>Diseased patients detected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88552" y="1508760"/>
            <a:ext cx="2286000" cy="102412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988552" y="1508760"/>
            <a:ext cx="64008" cy="1024128"/>
          </a:xfrm>
          <a:prstGeom prst="roundRect">
            <a:avLst>
              <a:gd name="adj" fmla="val 16000"/>
            </a:avLst>
          </a:prstGeom>
          <a:solidFill>
            <a:srgbClr val="F3C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71431" y="1655063"/>
            <a:ext cx="1993392" cy="393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0B1F33"/>
                </a:solidFill>
                <a:latin typeface="Aptos"/>
              </a:rPr>
              <a:t>0.8022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71431" y="2075688"/>
            <a:ext cx="199339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1" i="0">
                <a:solidFill>
                  <a:srgbClr val="667B90"/>
                </a:solidFill>
                <a:latin typeface="Aptos"/>
              </a:rPr>
              <a:t>ROC-AUC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71431" y="2258568"/>
            <a:ext cx="199339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67B90"/>
                </a:solidFill>
                <a:latin typeface="Aptos"/>
              </a:rPr>
              <a:t>Ranking ability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" y="2761488"/>
            <a:ext cx="4791456" cy="324612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5895" y="2862072"/>
            <a:ext cx="3143250" cy="3017520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5650992" y="2761488"/>
            <a:ext cx="5897880" cy="324612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925312" y="2990088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B1F33"/>
                </a:solidFill>
                <a:latin typeface="Aptos"/>
              </a:rPr>
              <a:t>Screening trade-off: lowering the cutoff catches more cases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25312" y="3493008"/>
            <a:ext cx="5321808" cy="384048"/>
          </a:xfrm>
          <a:prstGeom prst="roundRect">
            <a:avLst>
              <a:gd name="adj" fmla="val 16000"/>
            </a:avLst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089904" y="3584448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FFFFFF"/>
                </a:solidFill>
                <a:latin typeface="Aptos"/>
              </a:rPr>
              <a:t>Cutoff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78624" y="3584448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FFFFFF"/>
                </a:solidFill>
                <a:latin typeface="Aptos"/>
              </a:rPr>
              <a:t>Accuracy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58784" y="3584448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FFFFFF"/>
                </a:solidFill>
                <a:latin typeface="Aptos"/>
              </a:rPr>
              <a:t>Recall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74352" y="3584448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FFFFFF"/>
                </a:solidFill>
                <a:latin typeface="Aptos"/>
              </a:rPr>
              <a:t>Missed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97312" y="3584448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FFFFFF"/>
                </a:solidFill>
                <a:latin typeface="Aptos"/>
              </a:rPr>
              <a:t>False alarms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89904" y="4023359"/>
            <a:ext cx="102412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9324D"/>
                </a:solidFill>
                <a:latin typeface="Aptos"/>
              </a:rPr>
              <a:t>0.5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78624" y="4023359"/>
            <a:ext cx="102412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9324D"/>
                </a:solidFill>
                <a:latin typeface="Aptos"/>
              </a:rPr>
              <a:t>73.7%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58784" y="4023359"/>
            <a:ext cx="102412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9324D"/>
                </a:solidFill>
                <a:latin typeface="Aptos"/>
              </a:rPr>
              <a:t>69.1%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74352" y="4023359"/>
            <a:ext cx="102412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9324D"/>
                </a:solidFill>
                <a:latin typeface="Aptos"/>
              </a:rPr>
              <a:t>1,572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97312" y="4023359"/>
            <a:ext cx="102412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9324D"/>
                </a:solidFill>
                <a:latin typeface="Aptos"/>
              </a:rPr>
              <a:t>1,135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925312" y="4398264"/>
            <a:ext cx="5321808" cy="393192"/>
          </a:xfrm>
          <a:prstGeom prst="roundRect">
            <a:avLst>
              <a:gd name="adj" fmla="val 16000"/>
            </a:avLst>
          </a:prstGeom>
          <a:solidFill>
            <a:srgbClr val="E2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089904" y="4471416"/>
            <a:ext cx="102412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87E78"/>
                </a:solidFill>
                <a:latin typeface="Aptos"/>
              </a:rPr>
              <a:t>0.4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78624" y="4471416"/>
            <a:ext cx="102412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87E78"/>
                </a:solidFill>
                <a:latin typeface="Aptos"/>
              </a:rPr>
              <a:t>72.7%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58784" y="4471416"/>
            <a:ext cx="102412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87E78"/>
                </a:solidFill>
                <a:latin typeface="Aptos"/>
              </a:rPr>
              <a:t>77.6%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74352" y="4471416"/>
            <a:ext cx="102412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87E78"/>
                </a:solidFill>
                <a:latin typeface="Aptos"/>
              </a:rPr>
              <a:t>1,140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497312" y="4471416"/>
            <a:ext cx="102412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87E78"/>
                </a:solidFill>
                <a:latin typeface="Aptos"/>
              </a:rPr>
              <a:t>1,664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89904" y="4919472"/>
            <a:ext cx="102412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9324D"/>
                </a:solidFill>
                <a:latin typeface="Aptos"/>
              </a:rPr>
              <a:t>0.3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78624" y="4919472"/>
            <a:ext cx="102412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9324D"/>
                </a:solidFill>
                <a:latin typeface="Aptos"/>
              </a:rPr>
              <a:t>68.4%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58784" y="4919472"/>
            <a:ext cx="102412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9324D"/>
                </a:solidFill>
                <a:latin typeface="Aptos"/>
              </a:rPr>
              <a:t>87.6%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74352" y="4919472"/>
            <a:ext cx="102412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9324D"/>
                </a:solidFill>
                <a:latin typeface="Aptos"/>
              </a:rPr>
              <a:t>633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497312" y="4919472"/>
            <a:ext cx="102412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9324D"/>
                </a:solidFill>
                <a:latin typeface="Aptos"/>
              </a:rPr>
              <a:t>2,620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934456" y="5477256"/>
            <a:ext cx="5285232" cy="338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40" b="0" i="0">
                <a:solidFill>
                  <a:srgbClr val="667B90"/>
                </a:solidFill>
                <a:latin typeface="Aptos"/>
              </a:rPr>
              <a:t>At cutoff 0.4, recall rises by 8.5 points while accuracy falls by about 1 point.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" y="6144768"/>
            <a:ext cx="107899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0" i="0">
                <a:solidFill>
                  <a:srgbClr val="667B90"/>
                </a:solidFill>
                <a:latin typeface="Aptos"/>
              </a:rPr>
              <a:t>A model prediction is an estimate; recall, precision and thresholds have different costs depending on the screening setting.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566928" y="6510528"/>
            <a:ext cx="11064240" cy="0"/>
          </a:xfrm>
          <a:prstGeom prst="line">
            <a:avLst/>
          </a:prstGeom>
          <a:ln w="8890">
            <a:solidFill>
              <a:srgbClr val="D8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585216" y="6556248"/>
            <a:ext cx="73152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 i="0">
                <a:solidFill>
                  <a:srgbClr val="8B9BAD"/>
                </a:solidFill>
                <a:latin typeface="Aptos"/>
              </a:rPr>
              <a:t>CARDIOSENSE AI  /  CARDIOVASCULAR RISK PREDICTION &amp; ANALYTICS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109960" y="6528816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8B9BAD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5029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00A99A"/>
                </a:solidFill>
                <a:latin typeface="Aptos"/>
              </a:rPr>
              <a:t>07  /  INTERPRETATION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4864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1F33"/>
                </a:solidFill>
                <a:latin typeface="Aptos"/>
              </a:rPr>
              <a:t>What drives the predictions?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024128"/>
            <a:ext cx="109728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67B90"/>
                </a:solidFill>
                <a:latin typeface="Aptos"/>
              </a:rPr>
              <a:t>Permutation importance measures the drop in validation ROC-AUC when one feature is shuffled.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554480"/>
            <a:ext cx="5715000" cy="448056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372" y="1700784"/>
            <a:ext cx="5050694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693408" y="1664208"/>
            <a:ext cx="4572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0A99A"/>
                </a:solidFill>
                <a:latin typeface="Aptos"/>
              </a:rPr>
              <a:t>SIGNALS IN THE CLEANED 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2048256"/>
            <a:ext cx="4572000" cy="6583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675120" y="2048256"/>
            <a:ext cx="64008" cy="658368"/>
          </a:xfrm>
          <a:prstGeom prst="roundRect">
            <a:avLst>
              <a:gd name="adj" fmla="val 16000"/>
            </a:avLst>
          </a:prstGeom>
          <a:solidFill>
            <a:srgbClr val="F0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903720" y="2139696"/>
            <a:ext cx="202996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F33"/>
                </a:solidFill>
                <a:latin typeface="Aptos"/>
              </a:rPr>
              <a:t>133.9 vs 119.6 mmHg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05672" y="2121408"/>
            <a:ext cx="214884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0" i="0">
                <a:solidFill>
                  <a:srgbClr val="667B90"/>
                </a:solidFill>
                <a:latin typeface="Aptos"/>
              </a:rPr>
              <a:t>Average systolic BP: disease vs no disease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2889504"/>
            <a:ext cx="4572000" cy="6583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675120" y="2889504"/>
            <a:ext cx="64008" cy="658368"/>
          </a:xfrm>
          <a:prstGeom prst="roundRect">
            <a:avLst>
              <a:gd name="adj" fmla="val 16000"/>
            </a:avLst>
          </a:prstGeom>
          <a:solidFill>
            <a:srgbClr val="7C7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903720" y="2980944"/>
            <a:ext cx="202996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F33"/>
                </a:solidFill>
                <a:latin typeface="Aptos"/>
              </a:rPr>
              <a:t>54.9 vs 51.7 years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05672" y="2962656"/>
            <a:ext cx="214884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0" i="0">
                <a:solidFill>
                  <a:srgbClr val="667B90"/>
                </a:solidFill>
                <a:latin typeface="Aptos"/>
              </a:rPr>
              <a:t>Average age: disease vs no disease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3730752"/>
            <a:ext cx="4572000" cy="6583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675120" y="3730752"/>
            <a:ext cx="64008" cy="658368"/>
          </a:xfrm>
          <a:prstGeom prst="roundRect">
            <a:avLst>
              <a:gd name="adj" fmla="val 16000"/>
            </a:avLst>
          </a:prstGeom>
          <a:solidFill>
            <a:srgbClr val="F3C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903720" y="3822191"/>
            <a:ext cx="202996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F33"/>
                </a:solidFill>
                <a:latin typeface="Aptos"/>
              </a:rPr>
              <a:t>28.4 vs 26.4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05672" y="3803904"/>
            <a:ext cx="214884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0" i="0">
                <a:solidFill>
                  <a:srgbClr val="667B90"/>
                </a:solidFill>
                <a:latin typeface="Aptos"/>
              </a:rPr>
              <a:t>Average BMI: disease vs no disease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0" y="4681728"/>
            <a:ext cx="4572000" cy="960120"/>
          </a:xfrm>
          <a:prstGeom prst="roundRect">
            <a:avLst>
              <a:gd name="adj" fmla="val 16000"/>
            </a:avLst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931152" y="4882896"/>
            <a:ext cx="2057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1" i="0">
                <a:solidFill>
                  <a:srgbClr val="65D5E5"/>
                </a:solidFill>
                <a:latin typeface="Aptos"/>
              </a:rPr>
              <a:t>DISEASE SHARE BY CHOLESTEROL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5175504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1" i="0">
                <a:solidFill>
                  <a:srgbClr val="C7D5E0"/>
                </a:solidFill>
                <a:latin typeface="Aptos"/>
              </a:rPr>
              <a:t>Level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5358384"/>
            <a:ext cx="1051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Aptos"/>
              </a:rPr>
              <a:t>43.6%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02752" y="5175504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1" i="0">
                <a:solidFill>
                  <a:srgbClr val="C7D5E0"/>
                </a:solidFill>
                <a:latin typeface="Aptos"/>
              </a:rPr>
              <a:t>Level 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02752" y="5358384"/>
            <a:ext cx="1051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Aptos"/>
              </a:rPr>
              <a:t>59.7%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56063" y="5175504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1" i="0">
                <a:solidFill>
                  <a:srgbClr val="C7D5E0"/>
                </a:solidFill>
                <a:latin typeface="Aptos"/>
              </a:rPr>
              <a:t>Level 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6063" y="5358384"/>
            <a:ext cx="1051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Aptos"/>
              </a:rPr>
              <a:t>76.2%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144768"/>
            <a:ext cx="107899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50">
                <a:solidFill>
                  <a:srgbClr val="667B90"/>
                </a:solidFill>
                <a:latin typeface="Aptos"/>
              </a:rPr>
              <a:t>Interpretation: predictive association, not proof of cause. Systolic BP carries around 5–6× the permutation importance of age or cholesterol.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66928" y="6510528"/>
            <a:ext cx="11064240" cy="0"/>
          </a:xfrm>
          <a:prstGeom prst="line">
            <a:avLst/>
          </a:prstGeom>
          <a:ln w="8890">
            <a:solidFill>
              <a:srgbClr val="D8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85216" y="6556248"/>
            <a:ext cx="73152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 i="0">
                <a:solidFill>
                  <a:srgbClr val="8B9BAD"/>
                </a:solidFill>
                <a:latin typeface="Aptos"/>
              </a:rPr>
              <a:t>CARDIOSENSE AI  /  CARDIOVASCULAR RISK PREDICTION &amp; ANALYTICS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09960" y="6528816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8B9BAD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5029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00A99A"/>
                </a:solidFill>
                <a:latin typeface="Aptos"/>
              </a:rPr>
              <a:t>08  / 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4864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1F33"/>
                </a:solidFill>
                <a:latin typeface="Aptos"/>
              </a:rPr>
              <a:t>Browser-based risk prediction 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024128"/>
            <a:ext cx="109728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67B90"/>
                </a:solidFill>
                <a:latin typeface="Aptos"/>
              </a:rPr>
              <a:t>Streamlit interface: inputs → engineered features → saved model → estimated probability and risk band.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517904"/>
            <a:ext cx="6108192" cy="4553712"/>
          </a:xfrm>
          <a:prstGeom prst="roundRect">
            <a:avLst>
              <a:gd name="adj" fmla="val 16000"/>
            </a:avLst>
          </a:prstGeom>
          <a:solidFill>
            <a:srgbClr val="0B1F33"/>
          </a:solidFill>
          <a:ln w="12700"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14032" y="1627632"/>
            <a:ext cx="4160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0A99A"/>
                </a:solidFill>
                <a:latin typeface="Aptos"/>
              </a:rPr>
              <a:t>USER JOURNEY</a:t>
            </a:r>
          </a:p>
        </p:txBody>
      </p:sp>
      <p:sp>
        <p:nvSpPr>
          <p:cNvPr id="9" name="Oval 8"/>
          <p:cNvSpPr/>
          <p:nvPr/>
        </p:nvSpPr>
        <p:spPr>
          <a:xfrm>
            <a:off x="7132320" y="2039112"/>
            <a:ext cx="347472" cy="347472"/>
          </a:xfrm>
          <a:prstGeom prst="ellipse">
            <a:avLst/>
          </a:prstGeom>
          <a:solidFill>
            <a:srgbClr val="00A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32320" y="2052828"/>
            <a:ext cx="34747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6096" y="2011680"/>
            <a:ext cx="3566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B1F33"/>
                </a:solidFill>
                <a:latin typeface="Aptos"/>
              </a:rPr>
              <a:t>Enter 11 routine inputs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6096" y="2267712"/>
            <a:ext cx="3584448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90" b="0" i="0">
                <a:solidFill>
                  <a:srgbClr val="667B90"/>
                </a:solidFill>
                <a:latin typeface="Aptos"/>
              </a:rPr>
              <a:t>Age, gender, height/weight, blood pressure, cholesterol, glucose and lifestyle flags.</a:t>
            </a:r>
          </a:p>
        </p:txBody>
      </p:sp>
      <p:sp>
        <p:nvSpPr>
          <p:cNvPr id="13" name="Oval 12"/>
          <p:cNvSpPr/>
          <p:nvPr/>
        </p:nvSpPr>
        <p:spPr>
          <a:xfrm>
            <a:off x="7132320" y="2843784"/>
            <a:ext cx="347472" cy="347472"/>
          </a:xfrm>
          <a:prstGeom prst="ellipse">
            <a:avLst/>
          </a:prstGeom>
          <a:solidFill>
            <a:srgbClr val="00A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32320" y="2857500"/>
            <a:ext cx="34747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6096" y="2816352"/>
            <a:ext cx="3566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B1F33"/>
                </a:solidFill>
                <a:latin typeface="Aptos"/>
              </a:rPr>
              <a:t>Validate and transform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6096" y="3072384"/>
            <a:ext cx="3584448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90" b="0" i="0">
                <a:solidFill>
                  <a:srgbClr val="667B90"/>
                </a:solidFill>
                <a:latin typeface="Aptos"/>
              </a:rPr>
              <a:t>Reject systolic BP ≤ diastolic BP; calculate BMI and align columns.</a:t>
            </a:r>
          </a:p>
        </p:txBody>
      </p:sp>
      <p:sp>
        <p:nvSpPr>
          <p:cNvPr id="17" name="Oval 16"/>
          <p:cNvSpPr/>
          <p:nvPr/>
        </p:nvSpPr>
        <p:spPr>
          <a:xfrm>
            <a:off x="7132320" y="3648456"/>
            <a:ext cx="347472" cy="347472"/>
          </a:xfrm>
          <a:prstGeom prst="ellipse">
            <a:avLst/>
          </a:prstGeom>
          <a:solidFill>
            <a:srgbClr val="00A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132320" y="3662172"/>
            <a:ext cx="34747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6096" y="3621024"/>
            <a:ext cx="3566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B1F33"/>
                </a:solidFill>
                <a:latin typeface="Aptos"/>
              </a:rPr>
              <a:t>Get a probability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26096" y="3877056"/>
            <a:ext cx="3584448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90" b="0" i="0">
                <a:solidFill>
                  <a:srgbClr val="667B90"/>
                </a:solidFill>
                <a:latin typeface="Aptos"/>
              </a:rPr>
              <a:t>Loaded model calls `predict_proba`; probability is shown with a progress bar.</a:t>
            </a:r>
          </a:p>
        </p:txBody>
      </p:sp>
      <p:sp>
        <p:nvSpPr>
          <p:cNvPr id="21" name="Oval 20"/>
          <p:cNvSpPr/>
          <p:nvPr/>
        </p:nvSpPr>
        <p:spPr>
          <a:xfrm>
            <a:off x="7132320" y="4453128"/>
            <a:ext cx="347472" cy="347472"/>
          </a:xfrm>
          <a:prstGeom prst="ellipse">
            <a:avLst/>
          </a:prstGeom>
          <a:solidFill>
            <a:srgbClr val="F0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132320" y="4466844"/>
            <a:ext cx="34747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26096" y="4425696"/>
            <a:ext cx="3566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B1F33"/>
                </a:solidFill>
                <a:latin typeface="Aptos"/>
              </a:rPr>
              <a:t>Interpret the band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26096" y="4681728"/>
            <a:ext cx="3584448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90" b="0" i="0">
                <a:solidFill>
                  <a:srgbClr val="667B90"/>
                </a:solidFill>
                <a:latin typeface="Aptos"/>
              </a:rPr>
              <a:t>Below 40% = low; 40–60% = moderate; 60% or above = high.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14032" y="5422392"/>
            <a:ext cx="4160520" cy="557784"/>
          </a:xfrm>
          <a:prstGeom prst="roundRect">
            <a:avLst>
              <a:gd name="adj" fmla="val 16000"/>
            </a:avLst>
          </a:prstGeom>
          <a:solidFill>
            <a:srgbClr val="E2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333488" y="5596128"/>
            <a:ext cx="3749039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40" b="1" i="0">
                <a:solidFill>
                  <a:srgbClr val="087E78"/>
                </a:solidFill>
                <a:latin typeface="Aptos"/>
              </a:rPr>
              <a:t>Run locally:  `python -m streamlit run app/app.py`</a:t>
            </a:r>
          </a:p>
          <a:p>
            <a:pPr algn="l">
              <a:lnSpc>
                <a:spcPct val="100000"/>
              </a:lnSpc>
            </a:pPr>
            <a:r>
              <a:rPr sz="940" b="1" i="0">
                <a:solidFill>
                  <a:srgbClr val="087E78"/>
                </a:solidFill>
                <a:latin typeface="Aptos"/>
              </a:rPr>
              <a:t>Phone (same Wi-Fi):  add `--server.address 0.0.0.0`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144768"/>
            <a:ext cx="107899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 i="0">
                <a:solidFill>
                  <a:srgbClr val="667B90"/>
                </a:solidFill>
                <a:latin typeface="Aptos"/>
              </a:rPr>
              <a:t>Live: https://cardiosense-risk-predictor.streamlit.app/ (Streamlit Community Cloud). Layout tested in browser emulation at phone, tablet and desktop sizes, not on physical devices.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66928" y="6510528"/>
            <a:ext cx="11064240" cy="0"/>
          </a:xfrm>
          <a:prstGeom prst="line">
            <a:avLst/>
          </a:prstGeom>
          <a:ln w="8890">
            <a:solidFill>
              <a:srgbClr val="D8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85216" y="6556248"/>
            <a:ext cx="73152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 i="0">
                <a:solidFill>
                  <a:srgbClr val="8B9BAD"/>
                </a:solidFill>
                <a:latin typeface="Aptos"/>
              </a:rPr>
              <a:t>CARDIOSENSE AI  /  CARDIOVASCULAR RISK PREDICTION &amp; ANALYTICS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09960" y="6528816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8B9BAD"/>
                </a:solidFill>
                <a:latin typeface="Aptos"/>
              </a:rPr>
              <a:t>09</a:t>
            </a:r>
          </a:p>
        </p:txBody>
      </p:sp>
      <p:pic>
        <p:nvPicPr>
          <p:cNvPr id="31" name="Picture 30" descr="slide9_three_view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7363" y="2632347"/>
            <a:ext cx="5457049" cy="223338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5029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00A99A"/>
                </a:solidFill>
                <a:latin typeface="Aptos"/>
              </a:rPr>
              <a:t>09  /  CRITICAL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4864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1F33"/>
                </a:solidFill>
                <a:latin typeface="Aptos"/>
              </a:rPr>
              <a:t>What the current prototype can—and cannot—claim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024128"/>
            <a:ext cx="109728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67B90"/>
                </a:solidFill>
                <a:latin typeface="Aptos"/>
              </a:rPr>
              <a:t>Promising as a learning project; not validated for real clinical decisions.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581912"/>
            <a:ext cx="5248656" cy="449884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21792" y="1581912"/>
            <a:ext cx="5248656" cy="109728"/>
          </a:xfrm>
          <a:prstGeom prst="roundRect">
            <a:avLst>
              <a:gd name="adj" fmla="val 16000"/>
            </a:avLst>
          </a:prstGeom>
          <a:solidFill>
            <a:srgbClr val="F0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847088"/>
            <a:ext cx="4526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06464"/>
                </a:solidFill>
                <a:latin typeface="Aptos"/>
              </a:rPr>
              <a:t>LIMITATIONS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13432"/>
            <a:ext cx="45262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40" b="1" i="0">
                <a:solidFill>
                  <a:srgbClr val="0B1F33"/>
                </a:solidFill>
                <a:latin typeface="Aptos"/>
              </a:rPr>
              <a:t>Single public dataset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578608"/>
            <a:ext cx="4526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667B90"/>
                </a:solidFill>
                <a:latin typeface="Aptos"/>
              </a:rPr>
              <a:t>Random split does not establish performance on a new hospital or population.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108960"/>
            <a:ext cx="45262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40" b="1" i="0">
                <a:solidFill>
                  <a:srgbClr val="0B1F33"/>
                </a:solidFill>
                <a:latin typeface="Aptos"/>
              </a:rPr>
              <a:t>Moderate recall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374136"/>
            <a:ext cx="4526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667B90"/>
                </a:solidFill>
                <a:latin typeface="Aptos"/>
              </a:rPr>
              <a:t>At 0.5 cutoff, about 3 in 10 disease-positive cases are missed.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904487"/>
            <a:ext cx="45262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40" b="1" i="0">
                <a:solidFill>
                  <a:srgbClr val="0B1F33"/>
                </a:solidFill>
                <a:latin typeface="Aptos"/>
              </a:rPr>
              <a:t>BP-heavy behavior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169663"/>
            <a:ext cx="4526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667B90"/>
                </a:solidFill>
                <a:latin typeface="Aptos"/>
              </a:rPr>
              <a:t>Systolic pressure dominates; some BP bands are much harder than others.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700016"/>
            <a:ext cx="45262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40" b="1" i="0">
                <a:solidFill>
                  <a:srgbClr val="0B1F33"/>
                </a:solidFill>
                <a:latin typeface="Aptos"/>
              </a:rPr>
              <a:t>Untuned configurations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965192"/>
            <a:ext cx="4526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667B90"/>
                </a:solidFill>
                <a:latin typeface="Aptos"/>
              </a:rPr>
              <a:t>Manual settings were used; systematic cross-validation remains future work.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1581912"/>
            <a:ext cx="5394960" cy="4498848"/>
          </a:xfrm>
          <a:prstGeom prst="roundRect">
            <a:avLst>
              <a:gd name="adj" fmla="val 16000"/>
            </a:avLst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172200" y="1581912"/>
            <a:ext cx="5394960" cy="109728"/>
          </a:xfrm>
          <a:prstGeom prst="roundRect">
            <a:avLst>
              <a:gd name="adj" fmla="val 16000"/>
            </a:avLst>
          </a:prstGeom>
          <a:solidFill>
            <a:srgbClr val="00A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64808" y="184708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65D5E5"/>
                </a:solidFill>
                <a:latin typeface="Aptos"/>
              </a:rPr>
              <a:t>NEXT STEPS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83096" y="2286000"/>
            <a:ext cx="39319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65D5E5"/>
                </a:solidFill>
                <a:latin typeface="Aptos"/>
              </a:rPr>
              <a:t>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67728" y="2286000"/>
            <a:ext cx="4023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30" b="1" i="0">
                <a:solidFill>
                  <a:srgbClr val="FFFFFF"/>
                </a:solidFill>
                <a:latin typeface="Aptos"/>
              </a:rPr>
              <a:t>Validate externally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67728" y="2542032"/>
            <a:ext cx="404164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0" i="0">
                <a:solidFill>
                  <a:srgbClr val="C3D1DD"/>
                </a:solidFill>
                <a:latin typeface="Aptos"/>
              </a:rPr>
              <a:t>Test on a separate dataset and population.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83096" y="3081528"/>
            <a:ext cx="39319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65D5E5"/>
                </a:solidFill>
                <a:latin typeface="Aptos"/>
              </a:rP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67728" y="3081528"/>
            <a:ext cx="4023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30" b="1" i="0">
                <a:solidFill>
                  <a:srgbClr val="FFFFFF"/>
                </a:solidFill>
                <a:latin typeface="Aptos"/>
              </a:rPr>
              <a:t>Tune and compare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67728" y="3337560"/>
            <a:ext cx="404164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0" i="0">
                <a:solidFill>
                  <a:srgbClr val="C3D1DD"/>
                </a:solidFill>
                <a:latin typeface="Aptos"/>
              </a:rPr>
              <a:t>Use cross-validation and a documented search over hyperparameters.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83096" y="3877056"/>
            <a:ext cx="39319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65D5E5"/>
                </a:solidFill>
                <a:latin typeface="Aptos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67728" y="3877056"/>
            <a:ext cx="4023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30" b="1" i="0">
                <a:solidFill>
                  <a:srgbClr val="FFFFFF"/>
                </a:solidFill>
                <a:latin typeface="Aptos"/>
              </a:rPr>
              <a:t>Calibrate threshold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67728" y="4133088"/>
            <a:ext cx="404164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0" i="0">
                <a:solidFill>
                  <a:srgbClr val="C3D1DD"/>
                </a:solidFill>
                <a:latin typeface="Aptos"/>
              </a:rPr>
              <a:t>Choose a cutoff based on the cost of missed cases vs false alarms.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83096" y="4672583"/>
            <a:ext cx="39319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65D5E5"/>
                </a:solidFill>
                <a:latin typeface="Aptos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67728" y="4672583"/>
            <a:ext cx="4023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30" b="1" i="0">
                <a:solidFill>
                  <a:srgbClr val="FFFFFF"/>
                </a:solidFill>
                <a:latin typeface="Aptos"/>
              </a:rPr>
              <a:t>Improve explainability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67728" y="4928616"/>
            <a:ext cx="404164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0" i="0">
                <a:solidFill>
                  <a:srgbClr val="C3D1DD"/>
                </a:solidFill>
                <a:latin typeface="Aptos"/>
              </a:rPr>
              <a:t>Add SHAP-style explanations and evaluate fairness across groups.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" y="6199632"/>
            <a:ext cx="10945368" cy="219456"/>
          </a:xfrm>
          <a:prstGeom prst="roundRect">
            <a:avLst>
              <a:gd name="adj" fmla="val 16000"/>
            </a:avLst>
          </a:prstGeom>
          <a:solidFill>
            <a:srgbClr val="FD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32104" y="6217920"/>
            <a:ext cx="10515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F06464"/>
                </a:solidFill>
                <a:latin typeface="Aptos"/>
              </a:rPr>
              <a:t>IMPORTANT: Educational prototype only. It must not be used to diagnose or rule out cardiovascular disease. Tested in browser emulation only; deployed on Streamlit Community Cloud.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66928" y="6510528"/>
            <a:ext cx="11064240" cy="0"/>
          </a:xfrm>
          <a:prstGeom prst="line">
            <a:avLst/>
          </a:prstGeom>
          <a:ln w="8890">
            <a:solidFill>
              <a:srgbClr val="D8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85216" y="6556248"/>
            <a:ext cx="73152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 i="0">
                <a:solidFill>
                  <a:srgbClr val="8B9BAD"/>
                </a:solidFill>
                <a:latin typeface="Aptos"/>
              </a:rPr>
              <a:t>CARDIOSENSE AI  /  CARDIOVASCULAR RISK PREDICTION &amp; ANALYTICS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09960" y="6528816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8B9BAD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5029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65D5E5"/>
                </a:solidFill>
                <a:latin typeface="Aptos"/>
              </a:rPr>
              <a:t>10  / 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4864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Aptos"/>
              </a:rPr>
              <a:t>A reproducible baseline—not a clinical endpoint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024128"/>
            <a:ext cx="109728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C1D0DD"/>
                </a:solidFill>
                <a:latin typeface="Aptos"/>
              </a:rPr>
              <a:t>The contribution is the end-to-end workflow: cleaned data, fair comparison, interpretation and a working UI.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664208"/>
            <a:ext cx="3364992" cy="1554480"/>
          </a:xfrm>
          <a:prstGeom prst="roundRect">
            <a:avLst>
              <a:gd name="adj" fmla="val 16000"/>
            </a:avLst>
          </a:prstGeom>
          <a:solidFill>
            <a:srgbClr val="143653"/>
          </a:solidFill>
          <a:ln w="12700">
            <a:solidFill>
              <a:srgbClr val="1C4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847088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A99A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12848"/>
            <a:ext cx="285292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Aptos"/>
              </a:rPr>
              <a:t>Reliable evaluation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06040"/>
            <a:ext cx="2871216" cy="4846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C7D5E0"/>
                </a:solidFill>
                <a:latin typeface="Aptos"/>
              </a:rPr>
              <a:t>68,523 cleaned records; stratified 70/15/15 split; test kept separate.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1664208"/>
            <a:ext cx="3364992" cy="1554480"/>
          </a:xfrm>
          <a:prstGeom prst="roundRect">
            <a:avLst>
              <a:gd name="adj" fmla="val 16000"/>
            </a:avLst>
          </a:prstGeom>
          <a:solidFill>
            <a:srgbClr val="143653"/>
          </a:solidFill>
          <a:ln w="12700">
            <a:solidFill>
              <a:srgbClr val="1C4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26279" y="1847088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65D5E5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79" y="2212848"/>
            <a:ext cx="285292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Aptos"/>
              </a:rPr>
              <a:t>Measured performance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79" y="2606040"/>
            <a:ext cx="2871216" cy="4846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C7D5E0"/>
                </a:solidFill>
                <a:latin typeface="Aptos"/>
              </a:rPr>
              <a:t>Gradient Boosting: 73.7% accuracy and ROC-AUC 0.802 on held-out data.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8431" y="1664208"/>
            <a:ext cx="3364992" cy="1554480"/>
          </a:xfrm>
          <a:prstGeom prst="roundRect">
            <a:avLst>
              <a:gd name="adj" fmla="val 16000"/>
            </a:avLst>
          </a:prstGeom>
          <a:solidFill>
            <a:srgbClr val="143653"/>
          </a:solidFill>
          <a:ln w="12700">
            <a:solidFill>
              <a:srgbClr val="1C4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0" y="1847088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06464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212848"/>
            <a:ext cx="285292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Aptos"/>
              </a:rPr>
              <a:t>Actionable next step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606040"/>
            <a:ext cx="2871216" cy="4846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C7D5E0"/>
                </a:solidFill>
                <a:latin typeface="Aptos"/>
              </a:rPr>
              <a:t>External validation and threshold calibration matter more than tiny score gaps.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40080" y="3566160"/>
            <a:ext cx="10927080" cy="0"/>
          </a:xfrm>
          <a:prstGeom prst="line">
            <a:avLst/>
          </a:prstGeom>
          <a:ln w="12700">
            <a:solidFill>
              <a:srgbClr val="3151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58368" y="377647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65D5E5"/>
                </a:solidFill>
                <a:latin typeface="Aptos"/>
              </a:rPr>
              <a:t>SELECTED REFERENCES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" y="4183380"/>
            <a:ext cx="64008" cy="64008"/>
          </a:xfrm>
          <a:prstGeom prst="roundRect">
            <a:avLst>
              <a:gd name="adj" fmla="val 16000"/>
            </a:avLst>
          </a:prstGeom>
          <a:solidFill>
            <a:srgbClr val="65D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96112" y="4142232"/>
            <a:ext cx="105156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 i="0">
                <a:solidFill>
                  <a:srgbClr val="C5D3DE"/>
                </a:solidFill>
                <a:latin typeface="Aptos"/>
              </a:rPr>
              <a:t>Slime, K. et al. (2024). Toward a model to predict cardiovascular disease risk using a machine learning approach. IAENG Int. J. Computer Science.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4088" y="4594860"/>
            <a:ext cx="64008" cy="64008"/>
          </a:xfrm>
          <a:prstGeom prst="roundRect">
            <a:avLst>
              <a:gd name="adj" fmla="val 16000"/>
            </a:avLst>
          </a:prstGeom>
          <a:solidFill>
            <a:srgbClr val="65D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96112" y="4553712"/>
            <a:ext cx="105156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 i="0">
                <a:solidFill>
                  <a:srgbClr val="C5D3DE"/>
                </a:solidFill>
                <a:latin typeface="Aptos"/>
              </a:rPr>
              <a:t>Zhou, C. et al. (2024). A comprehensive review of deep learning-based models for heart disease prediction. Artificial Intelligence Review, 57, 263.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04088" y="5006340"/>
            <a:ext cx="64008" cy="64008"/>
          </a:xfrm>
          <a:prstGeom prst="roundRect">
            <a:avLst>
              <a:gd name="adj" fmla="val 16000"/>
            </a:avLst>
          </a:prstGeom>
          <a:solidFill>
            <a:srgbClr val="65D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96112" y="4965192"/>
            <a:ext cx="105156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 i="0">
                <a:solidFill>
                  <a:srgbClr val="C5D3DE"/>
                </a:solidFill>
                <a:latin typeface="Aptos"/>
              </a:rPr>
              <a:t>Deng, L. et al. (2025). An interpretable LightGBM model for predicting coronary heart disease. PLoS ONE, 20(9), e0330377.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04088" y="5417820"/>
            <a:ext cx="64008" cy="64008"/>
          </a:xfrm>
          <a:prstGeom prst="roundRect">
            <a:avLst>
              <a:gd name="adj" fmla="val 16000"/>
            </a:avLst>
          </a:prstGeom>
          <a:solidFill>
            <a:srgbClr val="65D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96112" y="5376672"/>
            <a:ext cx="105156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 i="0">
                <a:solidFill>
                  <a:srgbClr val="C5D3DE"/>
                </a:solidFill>
                <a:latin typeface="Aptos"/>
              </a:rPr>
              <a:t>Dataset: Ulianova, S. Cardiovascular Disease dataset (70,000 records), Kaggle. Implementation: scikit-learn, pandas, Streamlit.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5998464"/>
            <a:ext cx="7498079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 dirty="0">
                <a:solidFill>
                  <a:srgbClr val="FFFFFF"/>
                </a:solidFill>
                <a:latin typeface="Aptos"/>
              </a:rPr>
              <a:t>Thank you  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66928" y="6510528"/>
            <a:ext cx="11064240" cy="0"/>
          </a:xfrm>
          <a:prstGeom prst="line">
            <a:avLst/>
          </a:prstGeom>
          <a:ln w="8890">
            <a:solidFill>
              <a:srgbClr val="2744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85216" y="6556248"/>
            <a:ext cx="73152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 i="0">
                <a:solidFill>
                  <a:srgbClr val="8298AB"/>
                </a:solidFill>
                <a:latin typeface="Aptos"/>
              </a:rPr>
              <a:t>CARDIOSENSE AI  /  CARDIOVASCULAR RISK PREDICTION &amp; ANALYTICS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09960" y="6528816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8298AB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1537</Words>
  <Application>Microsoft Office PowerPoint</Application>
  <PresentationFormat>Widescreen</PresentationFormat>
  <Paragraphs>287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Anamom .exd</cp:lastModifiedBy>
  <cp:revision>3</cp:revision>
  <dcterms:created xsi:type="dcterms:W3CDTF">2013-01-27T09:14:16Z</dcterms:created>
  <dcterms:modified xsi:type="dcterms:W3CDTF">2026-10-28T04:13:29Z</dcterms:modified>
  <cp:category/>
</cp:coreProperties>
</file>