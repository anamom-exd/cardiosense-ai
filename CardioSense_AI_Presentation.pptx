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630AB-5509-4802-ACFC-14FAC1D004F0}" type="datetimeFigureOut">
              <a:rPr lang="en-IN" smtClean="0"/>
              <a:t>28-10-2026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9985C-5E54-46BB-BBBC-831CD5392A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1064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9985C-5E54-46BB-BBBC-831CD5392A3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735065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680960" y="411480"/>
            <a:ext cx="3749039" cy="3749039"/>
          </a:xfrm>
          <a:prstGeom prst="ellipse">
            <a:avLst/>
          </a:prstGeom>
          <a:solidFill>
            <a:srgbClr val="14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321040" y="1024128"/>
            <a:ext cx="2514600" cy="2514600"/>
          </a:xfrm>
          <a:prstGeom prst="ellipse">
            <a:avLst/>
          </a:prstGeom>
          <a:solidFill>
            <a:srgbClr val="1C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7315200" y="2788920"/>
            <a:ext cx="502920" cy="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7818120" y="2450592"/>
            <a:ext cx="256032" cy="338328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74152" y="2450592"/>
            <a:ext cx="320040" cy="795528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394192" y="1691640"/>
            <a:ext cx="320040" cy="155448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714232" y="1691640"/>
            <a:ext cx="338328" cy="128016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052560" y="2788920"/>
            <a:ext cx="274320" cy="18288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326880" y="2788920"/>
            <a:ext cx="457200" cy="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784080" y="2523744"/>
            <a:ext cx="365760" cy="265176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149840" y="2523744"/>
            <a:ext cx="301752" cy="402336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451592" y="2788920"/>
            <a:ext cx="265176" cy="13716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716768" y="2788920"/>
            <a:ext cx="530352" cy="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726679" y="2743200"/>
            <a:ext cx="82296" cy="82296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714232" y="1645920"/>
            <a:ext cx="118872" cy="118872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784080" y="2743200"/>
            <a:ext cx="82296" cy="82296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716768" y="2743200"/>
            <a:ext cx="82296" cy="82296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8368" y="640080"/>
            <a:ext cx="2331720" cy="310896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19" y="653796"/>
            <a:ext cx="2185415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 i="0">
                <a:solidFill>
                  <a:srgbClr val="65D5E5"/>
                </a:solidFill>
                <a:latin typeface="Aptos"/>
              </a:rPr>
              <a:t>MACHINE LEARNING  •  HEALTH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298448"/>
            <a:ext cx="64922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7000"/>
              </a:lnSpc>
            </a:pPr>
            <a:r>
              <a:rPr sz="3400" b="1" i="0">
                <a:solidFill>
                  <a:srgbClr val="FFFFFF"/>
                </a:solidFill>
                <a:latin typeface="Aptos"/>
              </a:rPr>
              <a:t>CardioSense AI
Cardiovascular Risk Prediction &amp;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035808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6D4E0"/>
                </a:solidFill>
                <a:latin typeface="Aptos"/>
              </a:rPr>
              <a:t>A data-driven screening prototype built from routine health measurements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4944" y="3931920"/>
            <a:ext cx="5385816" cy="0"/>
          </a:xfrm>
          <a:prstGeom prst="line">
            <a:avLst/>
          </a:prstGeom>
          <a:ln w="12700">
            <a:solidFill>
              <a:srgbClr val="315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4944" y="416052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PROJECT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434840"/>
            <a:ext cx="5303520" cy="2242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Om Punekar</a:t>
            </a:r>
            <a:endParaRPr sz="14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4944" y="5193792"/>
            <a:ext cx="4937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AFC0D0"/>
                </a:solidFill>
                <a:latin typeface="Aptos"/>
              </a:rPr>
              <a:t>Roll No. 13  •  Section A7-B1  •  27/10/2026</a:t>
            </a:r>
            <a:r>
              <a:rPr lang="en-US" sz="1000" dirty="0">
                <a:solidFill>
                  <a:srgbClr val="AFC0D0"/>
                </a:solidFill>
                <a:latin typeface="Aptos"/>
              </a:rPr>
              <a:t/>
            </a:r>
            <a:r>
              <a:rPr sz="1000" b="0" i="0" dirty="0">
                <a:solidFill>
                  <a:srgbClr val="AFC0D0"/>
                </a:solidFill>
                <a:latin typeface="Aptos"/>
              </a:rPr>
              <a:t/>
            </a:r>
            <a:r>
              <a:rPr lang="en-US" sz="1000" dirty="0">
                <a:solidFill>
                  <a:srgbClr val="AFC0D0"/>
                </a:solidFill>
                <a:latin typeface="Aptos"/>
              </a:rPr>
              <a:t/>
            </a:r>
            <a:endParaRPr sz="1000" b="0" i="0" dirty="0">
              <a:solidFill>
                <a:srgbClr val="AFC0D0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424927" y="4023360"/>
            <a:ext cx="1399032" cy="107899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424927" y="4023360"/>
            <a:ext cx="64008" cy="1078992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07807" y="4169664"/>
            <a:ext cx="1106424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ptos"/>
              </a:rPr>
              <a:t>70K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7807" y="4590288"/>
            <a:ext cx="1106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C1D0DD"/>
                </a:solidFill>
                <a:latin typeface="Aptos"/>
              </a:rPr>
              <a:t>RAW RECORDS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9408" y="4023360"/>
            <a:ext cx="1399032" cy="107899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979408" y="4023360"/>
            <a:ext cx="64008" cy="1078992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62288" y="4169664"/>
            <a:ext cx="1106424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ptos"/>
              </a:rPr>
              <a:t>73.7%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4590288"/>
            <a:ext cx="1106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C1D0DD"/>
                </a:solidFill>
                <a:latin typeface="Aptos"/>
              </a:rPr>
              <a:t>TEST ACCURACY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33888" y="4023360"/>
            <a:ext cx="1143000" cy="107899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533888" y="4023360"/>
            <a:ext cx="64008" cy="1078992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716767" y="4169664"/>
            <a:ext cx="850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ptos"/>
              </a:rPr>
              <a:t>0.802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6767" y="4590288"/>
            <a:ext cx="850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C1D0DD"/>
                </a:solidFill>
                <a:latin typeface="Aptos"/>
              </a:rPr>
              <a:t>ROC-AUC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1504" y="5376672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EC3D5"/>
                </a:solidFill>
                <a:latin typeface="Aptos"/>
              </a:rPr>
              <a:t>Model comparison  •  Feature analysis  •  Streamlit app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" y="6327648"/>
            <a:ext cx="5303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8197AB"/>
                </a:solidFill>
                <a:latin typeface="Aptos"/>
              </a:rPr>
              <a:t>ACADEMIC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01  /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Why predict cardiovascular disease risk?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The project turns routine health measurements into an estimated risk probability—not a diagnosis.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3291840" cy="23774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901952"/>
            <a:ext cx="457200" cy="73152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84831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06464"/>
                </a:solidFill>
                <a:latin typeface="Aptos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285292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B1F33"/>
                </a:solidFill>
                <a:latin typeface="Aptos"/>
              </a:rPr>
              <a:t>Health readings are noisy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54096"/>
            <a:ext cx="28529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67B90"/>
                </a:solidFill>
                <a:latin typeface="Aptos"/>
              </a:rPr>
              <a:t>Blood pressure, age, cholesterol and body measurements can reveal risk patterns, but raw data may contain impossible values.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64208"/>
            <a:ext cx="3291840" cy="23774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07407" y="1901952"/>
            <a:ext cx="457200" cy="73152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07407" y="2084831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A99A"/>
                </a:solidFill>
                <a:latin typeface="Aptos"/>
              </a:rPr>
              <a:t>THE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2377440"/>
            <a:ext cx="285292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B1F33"/>
                </a:solidFill>
                <a:latin typeface="Aptos"/>
              </a:rPr>
              <a:t>Compare before choosing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054096"/>
            <a:ext cx="28529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67B90"/>
                </a:solidFill>
                <a:latin typeface="Aptos"/>
              </a:rPr>
              <a:t>Clean the dataset, train multiple classifiers, select on validation ROC-AUC and evaluate once on an untouched test 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90688" y="1664208"/>
            <a:ext cx="3291840" cy="23774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991856" y="1901952"/>
            <a:ext cx="457200" cy="73152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91856" y="2084831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7C7FEA"/>
                </a:solidFill>
                <a:latin typeface="Aptos"/>
              </a:rPr>
              <a:t>THE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1856" y="2377440"/>
            <a:ext cx="285292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B1F33"/>
                </a:solidFill>
                <a:latin typeface="Aptos"/>
              </a:rPr>
              <a:t>Avoid headline-only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1856" y="3054096"/>
            <a:ext cx="28529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67B90"/>
                </a:solidFill>
                <a:latin typeface="Aptos"/>
              </a:rPr>
              <a:t>Studies using small or different datasets report very high accuracy. Results on the same 70,000-row dataset are closer to 73%.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4343400"/>
            <a:ext cx="10460736" cy="1627632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6112" y="4590288"/>
            <a:ext cx="187451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PROJECT 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Prepare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Remove invalid records; prevent leakage.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Benchmark 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Compare accuracy, precision, recall, F1 and ROC-AUC.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Explain patterns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Identify the features most important to predictions.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Build a tool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Make a responsive browser interface for model outputs.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4476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Research context: Slime et al. (2024) report ~73% test accuracy on the same Kaggle dataset; Zhou et al. (2024) highlight generalisation and interpretability gaps.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02  / 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Dataset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Public Kaggle Cardiovascular Disease dataset with a binary target (`cardio`).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2212848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719072"/>
            <a:ext cx="19202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396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RAW PATIENT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572768"/>
            <a:ext cx="2212848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017520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0" y="1719072"/>
            <a:ext cx="19202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68,523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1396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RECORDS AFTER CLEANING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13248" y="1572768"/>
            <a:ext cx="2212848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13248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96128" y="1719072"/>
            <a:ext cx="19202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≈49.5%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21396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DISEASE POSITIVE 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08975" y="1572768"/>
            <a:ext cx="3456432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808975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91855" y="1719072"/>
            <a:ext cx="3163824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11 + 1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5" y="2139696"/>
            <a:ext cx="31638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RAW INPUTS +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1855" y="2395728"/>
            <a:ext cx="316382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BMI is engineered for modeling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1792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DEMOGRAPHICS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3730752"/>
            <a:ext cx="82296" cy="82296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Age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4059936"/>
            <a:ext cx="82296" cy="82296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9264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Gender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52928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52928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08376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06464"/>
                </a:solidFill>
                <a:latin typeface="Aptos"/>
              </a:rPr>
              <a:t>BODY MEASURES</a:t>
            </a:r>
          </a:p>
        </p:txBody>
      </p:sp>
      <p:sp>
        <p:nvSpPr>
          <p:cNvPr id="33" name="Oval 32"/>
          <p:cNvSpPr/>
          <p:nvPr/>
        </p:nvSpPr>
        <p:spPr>
          <a:xfrm>
            <a:off x="3017520" y="3730752"/>
            <a:ext cx="82296" cy="82296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Height</a:t>
            </a:r>
          </a:p>
        </p:txBody>
      </p:sp>
      <p:sp>
        <p:nvSpPr>
          <p:cNvPr id="35" name="Oval 34"/>
          <p:cNvSpPr/>
          <p:nvPr/>
        </p:nvSpPr>
        <p:spPr>
          <a:xfrm>
            <a:off x="3017520" y="4059936"/>
            <a:ext cx="82296" cy="82296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0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Weight</a:t>
            </a:r>
          </a:p>
        </p:txBody>
      </p:sp>
      <p:sp>
        <p:nvSpPr>
          <p:cNvPr id="37" name="Oval 36"/>
          <p:cNvSpPr/>
          <p:nvPr/>
        </p:nvSpPr>
        <p:spPr>
          <a:xfrm>
            <a:off x="3017520" y="4389120"/>
            <a:ext cx="82296" cy="82296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4334256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9324D"/>
                </a:solidFill>
                <a:latin typeface="Aptos"/>
              </a:rPr>
              <a:t>BMI*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84064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084064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39512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C7FEA"/>
                </a:solidFill>
                <a:latin typeface="Aptos"/>
              </a:rPr>
              <a:t>VITAL SIGNS</a:t>
            </a:r>
          </a:p>
        </p:txBody>
      </p:sp>
      <p:sp>
        <p:nvSpPr>
          <p:cNvPr id="42" name="Oval 41"/>
          <p:cNvSpPr/>
          <p:nvPr/>
        </p:nvSpPr>
        <p:spPr>
          <a:xfrm>
            <a:off x="5248655" y="3730752"/>
            <a:ext cx="82296" cy="82296"/>
          </a:xfrm>
          <a:prstGeom prst="ellipse">
            <a:avLst/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31536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Systolic BP</a:t>
            </a:r>
          </a:p>
        </p:txBody>
      </p:sp>
      <p:sp>
        <p:nvSpPr>
          <p:cNvPr id="44" name="Oval 43"/>
          <p:cNvSpPr/>
          <p:nvPr/>
        </p:nvSpPr>
        <p:spPr>
          <a:xfrm>
            <a:off x="5248655" y="4059936"/>
            <a:ext cx="82296" cy="82296"/>
          </a:xfrm>
          <a:prstGeom prst="ellipse">
            <a:avLst/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31536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Diastolic BP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15200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470648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3C86A"/>
                </a:solidFill>
                <a:latin typeface="Aptos"/>
              </a:rPr>
              <a:t>CLINICAL</a:t>
            </a:r>
          </a:p>
        </p:txBody>
      </p:sp>
      <p:sp>
        <p:nvSpPr>
          <p:cNvPr id="49" name="Oval 48"/>
          <p:cNvSpPr/>
          <p:nvPr/>
        </p:nvSpPr>
        <p:spPr>
          <a:xfrm>
            <a:off x="7479792" y="3730752"/>
            <a:ext cx="82296" cy="82296"/>
          </a:xfrm>
          <a:prstGeom prst="ellipse">
            <a:avLst/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662672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Cholesterol</a:t>
            </a:r>
          </a:p>
        </p:txBody>
      </p:sp>
      <p:sp>
        <p:nvSpPr>
          <p:cNvPr id="51" name="Oval 50"/>
          <p:cNvSpPr/>
          <p:nvPr/>
        </p:nvSpPr>
        <p:spPr>
          <a:xfrm>
            <a:off x="7479792" y="4059936"/>
            <a:ext cx="82296" cy="82296"/>
          </a:xfrm>
          <a:prstGeom prst="ellipse">
            <a:avLst/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662672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Glucose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46336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9546336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701784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87E78"/>
                </a:solidFill>
                <a:latin typeface="Aptos"/>
              </a:rPr>
              <a:t>LIFESTYLE</a:t>
            </a:r>
          </a:p>
        </p:txBody>
      </p:sp>
      <p:sp>
        <p:nvSpPr>
          <p:cNvPr id="56" name="Oval 55"/>
          <p:cNvSpPr/>
          <p:nvPr/>
        </p:nvSpPr>
        <p:spPr>
          <a:xfrm>
            <a:off x="9710928" y="3730752"/>
            <a:ext cx="82296" cy="82296"/>
          </a:xfrm>
          <a:prstGeom prst="ellipse">
            <a:avLst/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93808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Smoking</a:t>
            </a:r>
          </a:p>
        </p:txBody>
      </p:sp>
      <p:sp>
        <p:nvSpPr>
          <p:cNvPr id="58" name="Oval 57"/>
          <p:cNvSpPr/>
          <p:nvPr/>
        </p:nvSpPr>
        <p:spPr>
          <a:xfrm>
            <a:off x="9710928" y="4059936"/>
            <a:ext cx="82296" cy="82296"/>
          </a:xfrm>
          <a:prstGeom prst="ellipse">
            <a:avLst/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893808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Alcohol</a:t>
            </a:r>
          </a:p>
        </p:txBody>
      </p:sp>
      <p:sp>
        <p:nvSpPr>
          <p:cNvPr id="60" name="Oval 59"/>
          <p:cNvSpPr/>
          <p:nvPr/>
        </p:nvSpPr>
        <p:spPr>
          <a:xfrm>
            <a:off x="9710928" y="4389120"/>
            <a:ext cx="82296" cy="82296"/>
          </a:xfrm>
          <a:prstGeom prst="ellipse">
            <a:avLst/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893808" y="4334256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Activity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792" y="5230368"/>
            <a:ext cx="11009376" cy="640080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68680" y="5394960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TARGET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65376" y="5367528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ptos"/>
              </a:rPr>
              <a:t>cardio = 1  Disease present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52160" y="5367528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ptos"/>
              </a:rPr>
              <a:t>cardio = 0  No cardiovascular disease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6080760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7B90"/>
                </a:solidFill>
                <a:latin typeface="Aptos"/>
              </a:rPr>
              <a:t>*BMI = weight (kg) / height (m)². Age is stored in days in the raw file and converted to years for modeling.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03  / 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Data cleaning: retain plausible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The raw file had no missing values, but it contained impossible readings and duplicate rows.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3749039" cy="4434840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CLEANING FUNNEL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FFFFFF"/>
                </a:solidFill>
                <a:latin typeface="Aptos"/>
              </a:rPr>
              <a:t>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715768"/>
            <a:ext cx="274320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3D1DD"/>
                </a:solidFill>
                <a:latin typeface="Aptos"/>
              </a:rPr>
              <a:t>raw records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41832" y="3127248"/>
            <a:ext cx="3081528" cy="0"/>
          </a:xfrm>
          <a:prstGeom prst="line">
            <a:avLst/>
          </a:prstGeom>
          <a:ln w="12700">
            <a:solidFill>
              <a:srgbClr val="3553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41832" y="3355848"/>
            <a:ext cx="1417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06464"/>
                </a:solidFill>
                <a:latin typeface="Aptos"/>
              </a:rPr>
              <a:t>−1,477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345643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3D1DD"/>
                </a:solidFill>
                <a:latin typeface="Aptos"/>
              </a:rPr>
              <a:t>2.1% removed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" y="3995928"/>
            <a:ext cx="2907792" cy="146304"/>
          </a:xfrm>
          <a:prstGeom prst="roundRect">
            <a:avLst>
              <a:gd name="adj" fmla="val 16000"/>
            </a:avLst>
          </a:prstGeom>
          <a:solidFill>
            <a:srgbClr val="254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1832" y="3995928"/>
            <a:ext cx="61063" cy="146304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2" y="4443984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0A99A"/>
                </a:solidFill>
                <a:latin typeface="Aptos"/>
              </a:rPr>
              <a:t>68,523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19472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3D1DD"/>
                </a:solidFill>
                <a:latin typeface="Aptos"/>
              </a:rPr>
              <a:t>clean records retained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5394960"/>
            <a:ext cx="2377440" cy="274320"/>
          </a:xfrm>
          <a:prstGeom prst="roundRect">
            <a:avLst>
              <a:gd name="adj" fmla="val 16000"/>
            </a:avLst>
          </a:prstGeom>
          <a:solidFill>
            <a:srgbClr val="1C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5408676"/>
            <a:ext cx="2231136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5D5E5"/>
                </a:solidFill>
                <a:latin typeface="Aptos"/>
              </a:rPr>
              <a:t>STRATIFIED SPLIT · RANDOM STATE 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673352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0A99A"/>
                </a:solidFill>
                <a:latin typeface="Aptos"/>
              </a:rPr>
              <a:t>WHAT WAS FIXED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36592" y="2084831"/>
            <a:ext cx="6144768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56048" y="2258568"/>
            <a:ext cx="11704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A99A"/>
                </a:solidFill>
                <a:latin typeface="Aptos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203703"/>
            <a:ext cx="4443984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3"/>
                </a:solidFill>
                <a:latin typeface="Aptos"/>
              </a:rPr>
              <a:t>Duplicate rows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496312"/>
            <a:ext cx="444398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667B90"/>
                </a:solidFill>
                <a:latin typeface="Aptos"/>
              </a:rPr>
              <a:t>Identical records removed after ignoring the ID field.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36592" y="3182111"/>
            <a:ext cx="6144768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56048" y="3355847"/>
            <a:ext cx="11704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06464"/>
                </a:solidFill>
                <a:latin typeface="Aptos"/>
              </a:rPr>
              <a:t>1,329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3300983"/>
            <a:ext cx="4443984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3"/>
                </a:solidFill>
                <a:latin typeface="Aptos"/>
              </a:rPr>
              <a:t>Blood-pressure errors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44768" y="3593591"/>
            <a:ext cx="444398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667B90"/>
                </a:solidFill>
                <a:latin typeface="Aptos"/>
              </a:rPr>
              <a:t>Kept ap_hi 70–250, ap_lo 40–200 and required ap_hi &gt; ap_lo.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6592" y="4279392"/>
            <a:ext cx="6144768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56048" y="4453128"/>
            <a:ext cx="11704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A99A"/>
                </a:solidFill>
                <a:latin typeface="Aptos"/>
              </a:rPr>
              <a:t>124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398264"/>
            <a:ext cx="4443984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3"/>
                </a:solidFill>
                <a:latin typeface="Aptos"/>
              </a:rPr>
              <a:t>Body-measure errors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4690872"/>
            <a:ext cx="444398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667B90"/>
                </a:solidFill>
                <a:latin typeface="Aptos"/>
              </a:rPr>
              <a:t>Applied broad height, weight and BMI plausibility ranges.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36592" y="5532120"/>
            <a:ext cx="6144768" cy="466344"/>
          </a:xfrm>
          <a:prstGeom prst="roundRect">
            <a:avLst>
              <a:gd name="adj" fmla="val 16000"/>
            </a:avLst>
          </a:prstGeom>
          <a:solidFill>
            <a:srgbClr val="E2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37760" y="5650992"/>
            <a:ext cx="574243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87E78"/>
                </a:solidFill>
                <a:latin typeface="Aptos"/>
              </a:rPr>
              <a:t>Feature engineering: age → years  •  derive BMI  •  drop ID and raw 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6108192"/>
            <a:ext cx="6126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Wide rules preserve severe readings (e.g., 200/120 mmHg) rather than removing them as outliers.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04  /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A leakage-aware training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The test set is held back until the final evaluation; validation data selects the winning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RAW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70,000 rows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0312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8716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3347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0662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CLEAN + DERIVE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68,523 rows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40740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5371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686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70 / 15 / 15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4360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2764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7395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1C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4710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TRAIN 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7 models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384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4788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9419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6734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VALIDATE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Pick by ROC-AUC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8408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6812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31443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38758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1443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TEST ONCE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Final metrics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" y="3840480"/>
            <a:ext cx="5212080" cy="115214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7824" y="4050791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STRATIFIED DATA SPLIT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" y="4389120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667B90"/>
                </a:solidFill>
                <a:latin typeface="Aptos"/>
              </a:rPr>
              <a:t>TRAIN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463600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47,966 · 70%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50591" y="4389120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667B90"/>
                </a:solidFill>
                <a:latin typeface="Aptos"/>
              </a:rPr>
              <a:t>VALIDATION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50591" y="463600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10,278 · 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4389120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667B90"/>
                </a:solidFill>
                <a:latin typeface="Aptos"/>
              </a:rPr>
              <a:t>TEST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23360" y="463600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10,279 · 15%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08192" y="3840480"/>
            <a:ext cx="5449824" cy="115214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82512" y="4050791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EVALUATION METRICS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Accuracy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Overall correctness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8835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Precision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8835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Reliability of positive flags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419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Recall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419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Diseased patients detected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003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F1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0003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Precision–recall balance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0587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ROC-AUC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0587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Ranking across cutoffs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" y="5330952"/>
            <a:ext cx="10936224" cy="566928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68680" y="5504688"/>
            <a:ext cx="10378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FFFFFF"/>
                </a:solidFill>
                <a:latin typeface="Aptos"/>
              </a:rPr>
              <a:t>Reproducibility: random_state = 42  •  scaling fitted on training data only  •  model selected on validation ROC-AUC (0.8002)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6062472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667B90"/>
                </a:solidFill>
                <a:latin typeface="Aptos"/>
              </a:rPr>
              <a:t>Models cover linear, distance-based, margin-based (SVM), tree-based (entropy) and boosted approaches.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05  / 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Model comparison: scores are tightly clustered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Seven models were trained on the same split; the strongest three are within 0.001 ROC-AUC.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527048"/>
            <a:ext cx="6903720" cy="446227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818120" y="1527048"/>
            <a:ext cx="3749039" cy="4462272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10727" y="1847088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HOW TO READ THIS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221284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Aptos"/>
              </a:rPr>
              <a:t>73–74%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2706624"/>
            <a:ext cx="299923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6D4E0"/>
                </a:solidFill>
                <a:latin typeface="Aptos"/>
              </a:rPr>
              <a:t>Accuracy range across the strongest models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10727" y="3227832"/>
            <a:ext cx="3090673" cy="0"/>
          </a:xfrm>
          <a:prstGeom prst="line">
            <a:avLst/>
          </a:prstGeom>
          <a:ln w="12700">
            <a:solidFill>
              <a:srgbClr val="3553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10727" y="3447288"/>
            <a:ext cx="301752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Selected: Gradient Boosting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7" y="3767328"/>
            <a:ext cx="3035808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6D4E0"/>
                </a:solidFill>
                <a:latin typeface="Aptos"/>
              </a:rPr>
              <a:t>Validation ROC-AUC = 0.8002 — the winner was selected before checking test results.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7" y="4553712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Important distinction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7" y="4837176"/>
            <a:ext cx="301752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C6D4E0"/>
                </a:solidFill>
                <a:latin typeface="Aptos"/>
              </a:rPr>
              <a:t>Random Forest has the highest test accuracy (73.74%) and HistGradientBoosting the highest test ROC-AUC (0.8026), but test scores are for evaluation—not model selection.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667B90"/>
                </a:solidFill>
                <a:latin typeface="Aptos"/>
              </a:rPr>
              <a:t>Source: project outputs/model_comparison.csv (7 models, same split).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06</a:t>
            </a:r>
          </a:p>
        </p:txBody>
      </p:sp>
      <p:pic>
        <p:nvPicPr>
          <p:cNvPr id="25" name="Picture 24" descr="model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3" y="2228226"/>
            <a:ext cx="6510526" cy="29593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06  /  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Gradient Boosting: final held-out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Test set: 10,279 records  •  Model picked using validation ROC-AUC = 0.8002.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73.66%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Correct predictions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071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3592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75.59%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PRECISION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Positive flags that were correct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9963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69.09%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Diseased patients detected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8855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1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0.8022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1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ROC-AUC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1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Ranking 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2761488"/>
            <a:ext cx="4791456" cy="3246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95" y="2862072"/>
            <a:ext cx="3143250" cy="30175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650992" y="2761488"/>
            <a:ext cx="5897880" cy="3246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25312" y="299008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Screening trade-off: lowering the cutoff catches more cases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25312" y="3493008"/>
            <a:ext cx="5321808" cy="384048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89904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Cutoff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8624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Recall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4352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Missed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7312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False alarms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9904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0.5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73.7%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69.1%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352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1,572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97312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1,135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25312" y="4398264"/>
            <a:ext cx="5321808" cy="393192"/>
          </a:xfrm>
          <a:prstGeom prst="roundRect">
            <a:avLst>
              <a:gd name="adj" fmla="val 16000"/>
            </a:avLst>
          </a:prstGeom>
          <a:solidFill>
            <a:srgbClr val="E2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089904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0.4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78624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72.7%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8784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77.6%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1,140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97312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1,664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9904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0.3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8624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68.4%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58784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87.6%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4352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97312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2,620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34456" y="5477256"/>
            <a:ext cx="52852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 i="0">
                <a:solidFill>
                  <a:srgbClr val="667B90"/>
                </a:solidFill>
                <a:latin typeface="Aptos"/>
              </a:rPr>
              <a:t>At cutoff 0.4, recall rises by 8.5 points while accuracy falls by about 1 point.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A model prediction is an estimate; recall, precision and thresholds have different costs depending on the screening setting.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07  / 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What drives the predictions?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Permutation importance measures the drop in validation ROC-AUC when one feature is shuffled.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54480"/>
            <a:ext cx="5715000" cy="44805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72" y="1700784"/>
            <a:ext cx="5050694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93408" y="1664208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0A99A"/>
                </a:solidFill>
                <a:latin typeface="Aptos"/>
              </a:rPr>
              <a:t>SIGNALS IN THE CLEANED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2048256"/>
            <a:ext cx="457200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675120" y="2048256"/>
            <a:ext cx="64008" cy="658368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03720" y="2139696"/>
            <a:ext cx="2029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3"/>
                </a:solidFill>
                <a:latin typeface="Aptos"/>
              </a:rPr>
              <a:t>133.9 vs 119.6 mmHg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2121408"/>
            <a:ext cx="2148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667B90"/>
                </a:solidFill>
                <a:latin typeface="Aptos"/>
              </a:rPr>
              <a:t>Average systolic BP: disease vs no disease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889504"/>
            <a:ext cx="457200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675120" y="2889504"/>
            <a:ext cx="64008" cy="658368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980944"/>
            <a:ext cx="2029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3"/>
                </a:solidFill>
                <a:latin typeface="Aptos"/>
              </a:rPr>
              <a:t>54.9 vs 51.7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5672" y="2962656"/>
            <a:ext cx="2148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667B90"/>
                </a:solidFill>
                <a:latin typeface="Aptos"/>
              </a:rPr>
              <a:t>Average age: disease vs no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730752"/>
            <a:ext cx="457200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75120" y="3730752"/>
            <a:ext cx="64008" cy="658368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03720" y="3822191"/>
            <a:ext cx="2029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3"/>
                </a:solidFill>
                <a:latin typeface="Aptos"/>
              </a:rPr>
              <a:t>28.4 vs 26.4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5672" y="3803904"/>
            <a:ext cx="2148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667B90"/>
                </a:solidFill>
                <a:latin typeface="Aptos"/>
              </a:rPr>
              <a:t>Average BMI: disease vs no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681728"/>
            <a:ext cx="4572000" cy="960120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31152" y="4882896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1" i="0">
                <a:solidFill>
                  <a:srgbClr val="65D5E5"/>
                </a:solidFill>
                <a:latin typeface="Aptos"/>
              </a:rPr>
              <a:t>DISEASE SHARE BY CHOLESTEROL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7550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C7D5E0"/>
                </a:solidFill>
                <a:latin typeface="Aptos"/>
              </a:rPr>
              <a:t>Level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35838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43.6%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517550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C7D5E0"/>
                </a:solidFill>
                <a:latin typeface="Aptos"/>
              </a:rPr>
              <a:t>Level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535838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59.7%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6063" y="517550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C7D5E0"/>
                </a:solidFill>
                <a:latin typeface="Aptos"/>
              </a:rPr>
              <a:t>Level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3" y="535838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76.2%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>
                <a:solidFill>
                  <a:srgbClr val="667B90"/>
                </a:solidFill>
                <a:latin typeface="Aptos"/>
              </a:rPr>
              <a:t>Interpretation: predictive association, not proof of cause. Systolic BP carries around 5–6× the permutation importance of age or cholesterol.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08  /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Browser-based risk prediction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Streamlit interface: inputs → engineered features → saved model → estimated probability and risk band.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17904"/>
            <a:ext cx="6108192" cy="4553712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14032" y="162763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0A99A"/>
                </a:solidFill>
                <a:latin typeface="Aptos"/>
              </a:rPr>
              <a:t>USER JOURNEY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2039112"/>
            <a:ext cx="347472" cy="347472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0" y="2052828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6" y="201168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Enter 11 routine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6096" y="2267712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Age, gender, height/weight, blood pressure, cholesterol, glucose and lifestyle flags.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0" y="2843784"/>
            <a:ext cx="347472" cy="347472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2857500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816352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Validate and transform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3072384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Reject systolic BP ≤ diastolic BP; calculate BMI and align columns.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0" y="3648456"/>
            <a:ext cx="347472" cy="347472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3662172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3621024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Get a probability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6096" y="3877056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Loaded model calls `predict_proba`; probability is shown with a progress bar.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0" y="4453128"/>
            <a:ext cx="347472" cy="347472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0" y="4466844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6096" y="4425696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Interpret the band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6096" y="4681728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Below 40% = low; 40–60% = moderate; 60% or above = high.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5422392"/>
            <a:ext cx="4160520" cy="557784"/>
          </a:xfrm>
          <a:prstGeom prst="roundRect">
            <a:avLst>
              <a:gd name="adj" fmla="val 16000"/>
            </a:avLst>
          </a:prstGeom>
          <a:solidFill>
            <a:srgbClr val="E2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33488" y="5596128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 i="0">
                <a:solidFill>
                  <a:srgbClr val="087E78"/>
                </a:solidFill>
                <a:latin typeface="Aptos"/>
              </a:rPr>
              <a:t>Run locally:  `python -m streamlit run app/app.py`</a:t>
            </a:r>
          </a:p>
          <a:p>
            <a:pPr algn="l">
              <a:lnSpc>
                <a:spcPct val="100000"/>
              </a:lnSpc>
            </a:pPr>
            <a:r>
              <a:rPr sz="940" b="1" i="0">
                <a:solidFill>
                  <a:srgbClr val="087E78"/>
                </a:solidFill>
                <a:latin typeface="Aptos"/>
              </a:rPr>
              <a:t>Phone (same Wi-Fi):  add `--server.address 0.0.0.0`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667B90"/>
                </a:solidFill>
                <a:latin typeface="Aptos"/>
              </a:rPr>
              <a:t>Not deployed publicly; runs locally and on the same Wi-Fi. Layout tested in browser emulation at phone, tablet and desktop sizes, not on physical devices.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09</a:t>
            </a:r>
          </a:p>
        </p:txBody>
      </p:sp>
      <p:pic>
        <p:nvPicPr>
          <p:cNvPr id="31" name="Picture 30" descr="slide9_three_view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363" y="2632347"/>
            <a:ext cx="5457049" cy="22333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09  /  CRITICAL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What the current prototype can—and cannot—claim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Promising as a learning project; not validated for real clinical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81912"/>
            <a:ext cx="5248656" cy="44988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" y="1581912"/>
            <a:ext cx="5248656" cy="109728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06464"/>
                </a:solidFill>
                <a:latin typeface="Aptos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13432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Single public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Random split does not establish performance on a new hospital or population.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Moderate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74136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At 0.5 cutoff, about 3 in 10 disease-positive cases are missed.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4487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BP-heavy behavior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69663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Systolic pressure dominates; some BP bands are much harder than others.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Untuned configurations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6519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Manual settings were used; systematic cross-validation remains future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581912"/>
            <a:ext cx="5394960" cy="4498848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72200" y="1581912"/>
            <a:ext cx="5394960" cy="109728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64808" y="1847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NEXT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286000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2286000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Validate externally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542032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Test on a separate dataset and population.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3081528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3081528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Tune and compare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3337560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Use cross-validation and a documented search over hyperparameters.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877056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877056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Calibrate threshold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4133088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Choose a cutoff based on the cost of missed cases vs false alarms.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4672583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672583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Improve explainability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4928616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Add SHAP-style explanations and evaluate fairness across groups.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6199632"/>
            <a:ext cx="10945368" cy="219456"/>
          </a:xfrm>
          <a:prstGeom prst="roundRect">
            <a:avLst>
              <a:gd name="adj" fmla="val 16000"/>
            </a:avLst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" y="6217920"/>
            <a:ext cx="10515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06464"/>
                </a:solidFill>
                <a:latin typeface="Aptos"/>
              </a:rPr>
              <a:t>IMPORTANT: Educational prototype only. It must not be used to diagnose or rule out cardiovascular disease. Tested in browser emulation only; not deployed publicly.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10  / 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ptos"/>
              </a:rPr>
              <a:t>A reproducible baseline—not a clinical endpoint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1D0DD"/>
                </a:solidFill>
                <a:latin typeface="Aptos"/>
              </a:rPr>
              <a:t>The contribution is the end-to-end workflow: cleaned data, fair comparison, interpretation and a working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3364992" cy="1554480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470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A99A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12848"/>
            <a:ext cx="2852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ptos"/>
              </a:rPr>
              <a:t>Reliable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28712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7D5E0"/>
                </a:solidFill>
                <a:latin typeface="Aptos"/>
              </a:rPr>
              <a:t>68,523 cleaned records; stratified 70/15/15 split; test kept separate.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64208"/>
            <a:ext cx="3364992" cy="1554480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79" y="18470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5D5E5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212848"/>
            <a:ext cx="2852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ptos"/>
              </a:rPr>
              <a:t>Measured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06040"/>
            <a:ext cx="28712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7D5E0"/>
                </a:solidFill>
                <a:latin typeface="Aptos"/>
              </a:rPr>
              <a:t>Gradient Boosting: 73.7% accuracy and ROC-AUC 0.802 on held-out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64208"/>
            <a:ext cx="3364992" cy="1554480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8470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06464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12848"/>
            <a:ext cx="2852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ptos"/>
              </a:rPr>
              <a:t>Actionable next 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606040"/>
            <a:ext cx="28712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7D5E0"/>
                </a:solidFill>
                <a:latin typeface="Aptos"/>
              </a:rPr>
              <a:t>External validation and threshold calibration matter more than tiny score gaps.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3566160"/>
            <a:ext cx="10927080" cy="0"/>
          </a:xfrm>
          <a:prstGeom prst="line">
            <a:avLst/>
          </a:prstGeom>
          <a:ln w="12700">
            <a:solidFill>
              <a:srgbClr val="315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776472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SELECTED REFERENCES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" y="418338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414223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Slime, K. et al. (2024). Toward a model to predict cardiovascular disease risk using a machine learning approach. IAENG Int. J. Computer Science.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" y="459486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55371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Zhou, C. et al. (2024). A comprehensive review of deep learning-based models for heart disease prediction. Artificial Intelligence Review, 57, 263.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" y="500634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496519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Deng, L. et al. (2025). An interpretable LightGBM model for predicting coronary heart disease. PLoS ONE, 20(9), e0330377.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" y="541782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" y="537667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Dataset: Ulianova, S. Cardiovascular Disease dataset (70,000 records), Kaggle. Implementation: scikit-learn, pandas, Streamlit.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998464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>
                <a:solidFill>
                  <a:srgbClr val="FFFFFF"/>
                </a:solidFill>
                <a:latin typeface="Aptos"/>
              </a:rPr>
              <a:t>Thank you  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27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298AB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298AB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1537</Words>
  <Application>Microsoft Office PowerPoint</Application>
  <PresentationFormat>Widescreen</PresentationFormat>
  <Paragraphs>287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Anamom .exd</cp:lastModifiedBy>
  <cp:revision>3</cp:revision>
  <dcterms:created xsi:type="dcterms:W3CDTF">2013-01-27T09:14:16Z</dcterms:created>
  <dcterms:modified xsi:type="dcterms:W3CDTF">2026-10-28T04:13:29Z</dcterms:modified>
  <cp:category/>
</cp:coreProperties>
</file>